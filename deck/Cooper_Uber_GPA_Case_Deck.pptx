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nber.org/papers/w22627" TargetMode="External"/><Relationship Id="rId2" Type="http://schemas.openxmlformats.org/officeDocument/2006/relationships/hyperlink" Target="https://www.nber.org/papers/w22627" TargetMode="External"/><Relationship Id="rId3" Type="http://schemas.openxmlformats.org/officeDocument/2006/relationships/hyperlink" Target="https://www.uber.com/blog/research/" TargetMode="External"/><Relationship Id="rId4" Type="http://schemas.openxmlformats.org/officeDocument/2006/relationships/hyperlink" Target="https://ide.mit.edu/sites/default/files/publications/SSRN-id2997190.pdf" TargetMode="External"/><Relationship Id="rId5" Type="http://schemas.openxmlformats.org/officeDocument/2006/relationships/hyperlink" Target="https://mitpress.mit.edu/9780262232586/" TargetMode="External"/><Relationship Id="rId6" Type="http://schemas.openxmlformats.org/officeDocument/2006/relationships/hyperlink" Target="https://www.nyc.gov/site/tlc/about/tlc-trip-record-data.page" TargetMode="External"/><Relationship Id="rId7" Type="http://schemas.openxmlformats.org/officeDocument/2006/relationships/hyperlink" Target="https://www.nyc.gov/site/tlc/about/tlc-trip-record-data.page" TargetMode="External"/><Relationship Id="rId8" Type="http://schemas.openxmlformats.org/officeDocument/2006/relationships/hyperlink" Target="https://data.ny.gov/Transportation/MTA-Subway-Hourly-Ridership/wujg-7c2s" TargetMode="External"/><Relationship Id="rId9" Type="http://schemas.openxmlformats.org/officeDocument/2006/relationships/hyperlink" Target="https://www.ncei.noaa.gov/data/local-climatological-data/" TargetMode="External"/><Relationship Id="rId10" Type="http://schemas.openxmlformats.org/officeDocument/2006/relationships/hyperlink" Target="https://news.airbnb.com/fifa-world-cup-2026/" TargetMode="External"/><Relationship Id="rId11" Type="http://schemas.openxmlformats.org/officeDocument/2006/relationships/hyperlink" Target="https://www.nyctourism.com/research/" TargetMode="External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1887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6C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UBER GPA LEAD L3/4  •  CASE STUDY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55448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the Predictable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640080" y="27432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framework for capturing forecastable demand shocks in rideshare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3520440"/>
            <a:ext cx="731520" cy="45720"/>
          </a:xfrm>
          <a:prstGeom prst="rect">
            <a:avLst/>
          </a:prstGeom>
          <a:solidFill>
            <a:srgbClr val="06C167"/>
          </a:solidFill>
          <a:ln w="12700">
            <a:solidFill>
              <a:srgbClr val="06C1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40233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C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399M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40080" y="4526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Trips analyzed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108960" y="40233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C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761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108960" y="4526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catalogued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577840" y="40233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C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5577840" y="4526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datasets fused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046720" y="40233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C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$5.6M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8046720" y="45262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NYC pricing capture (3 pricing-relevant shocks)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5852160"/>
            <a:ext cx="1097280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Thomas Cooper</a:t>
            </a:r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</a:t>
            </a:r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6C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we'll cover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828800"/>
            <a:ext cx="10972800" cy="685800"/>
          </a:xfrm>
          <a:prstGeom prst="rect">
            <a:avLst/>
          </a:prstGeom>
          <a:solidFill>
            <a:srgbClr val="1F1F1F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96596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6C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54480" y="19202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problem &amp; hypothesis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0" y="19202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the question, why it matters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606040"/>
            <a:ext cx="10972800" cy="685800"/>
          </a:xfrm>
          <a:prstGeom prst="rect">
            <a:avLst/>
          </a:prstGeom>
          <a:solidFill>
            <a:srgbClr val="1F1F1F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74320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6C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554480" y="269748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foundation &amp; methodology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12480" y="26974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datasets, 20 months, the framework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3383280"/>
            <a:ext cx="10972800" cy="685800"/>
          </a:xfrm>
          <a:prstGeom prst="rect">
            <a:avLst/>
          </a:prstGeom>
          <a:solidFill>
            <a:srgbClr val="1F1F1F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52044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6C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554480" y="347472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forecastable shocks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412480" y="34747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· Weather · Substitution · CP · Politics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4160520"/>
            <a:ext cx="10972800" cy="685800"/>
          </a:xfrm>
          <a:prstGeom prst="rect">
            <a:avLst/>
          </a:prstGeom>
          <a:solidFill>
            <a:srgbClr val="1F1F1F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29768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6C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554480" y="425196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Sized opportunity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412480" y="42519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vs supply counterfactuals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4937760"/>
            <a:ext cx="10972800" cy="685800"/>
          </a:xfrm>
          <a:prstGeom prst="rect">
            <a:avLst/>
          </a:prstGeom>
          <a:solidFill>
            <a:srgbClr val="1F1F1F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507492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6C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554480" y="502920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 &amp; World Cup application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412480" y="50292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MetLife 2026 forward case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0080" y="5715000"/>
            <a:ext cx="10972800" cy="685800"/>
          </a:xfrm>
          <a:prstGeom prst="rect">
            <a:avLst/>
          </a:prstGeom>
          <a:solidFill>
            <a:srgbClr val="1F1F1F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585216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6C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554480" y="58064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Risks, caveats, what I'd do next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412480" y="58064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scoping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65760" y="65379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Uber GPA Lead Case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251960" y="6537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Thomas Cooper  •  May 2026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789920" y="653796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6C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•  THE BUSINESS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Forecastable shocks are visible in public data — and rideshare under-monetizes them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78308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could Uber make money from publicly available data?"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case asks where public-data analysis can change how Uber operates. Most obvious answer: marketing spend, growth. Less obvious — and more interesting — answer: </a:t>
            </a:r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6C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shocks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52044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shocks come in five forecastable categories that public data already exposes. Each has a different operational profile — and a different right answer.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498080" y="1783080"/>
            <a:ext cx="4114800" cy="4114800"/>
          </a:xfrm>
          <a:prstGeom prst="rect">
            <a:avLst/>
          </a:prstGeom>
          <a:solidFill>
            <a:srgbClr val="1F1F1F"/>
          </a:solidFill>
          <a:ln w="25400">
            <a:solidFill>
              <a:srgbClr val="06C16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80960" y="19202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6C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680960" y="23317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~$5.6M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680960" y="269748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NYC pricing capture (NJ pregame + heavy rain + sports); storm gets supply withdrawal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680960" y="32461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matches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680960" y="361188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Cup at MetLife 2026 — direct forward application of NJ-venue framework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680960" y="41605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categories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680960" y="452628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Events, weather, substitution, congestion pricing, political — all in public data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680960" y="50749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levers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680960" y="544068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vs supply optimization — analyzed head-to-head per shock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" y="5486400"/>
            <a:ext cx="6400800" cy="1097280"/>
          </a:xfrm>
          <a:prstGeom prst="rect">
            <a:avLst/>
          </a:prstGeom>
          <a:solidFill>
            <a:srgbClr val="151515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5577840"/>
            <a:ext cx="6126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6C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77240" y="5852160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quantitative framework that recommends the right operational lever PER SHOCK using literature-anchored elasticities; size NYC opportunity and demonstrate against World Cup 2026.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5760" y="65379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Uber GPA Lead Case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251960" y="6537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Thomas Cooper  •  May 2026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789920" y="653796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6C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•  DATA FOUNDATION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Nine public datasets fused into a 7.2M-row zone-hour panel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91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6C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PUBLIC DATA SOURCES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2011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TLC HVFHS Trip Records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22402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monthly parquets · 399.4M trips · Uber 295M / Lyft 105M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77240" y="2487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TLC Taxi Zones (shapefile)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271576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263 zones · EPSG:2263 · Congestion Relief Zone (CRZ) classification (36 zones)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77240" y="296265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MTA Subway Hourly Ridership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" y="31912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62M raw rows · 462 stations · zone-mapped via station coords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77240" y="343814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NOAA Hourly Weather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" y="3666744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FM-15 + FM-16 deduped · 43K obs · 3 stations zone-mapped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77240" y="39136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NOAA Storm Events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77240" y="41422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 NYC events · 9 storm categories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77240" y="43891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Events Catalog (custom)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77240" y="46177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761 events: 741 sports + 6 political + 14 civic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7724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NYC SAPO Permits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77240" y="50932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8.5M raw → 60K events deduped (borough-level)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77240" y="534009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NYC TLC Congestion Pricing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77240" y="556869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date Jan 5, 2025 · CRZ vs non-CRZ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77240" y="581558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Federal + NYC holiday calendar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77240" y="6044184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dates with same-DOW-non-holiday baseline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675120" y="16916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6C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ANALYSIS TABLE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675120" y="2057400"/>
            <a:ext cx="2377440" cy="1005840"/>
          </a:xfrm>
          <a:prstGeom prst="rect">
            <a:avLst/>
          </a:prstGeom>
          <a:solidFill>
            <a:srgbClr val="1F1F1F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675120" y="2057400"/>
            <a:ext cx="73152" cy="1005840"/>
          </a:xfrm>
          <a:prstGeom prst="rect">
            <a:avLst/>
          </a:prstGeom>
          <a:solidFill>
            <a:srgbClr val="06C167"/>
          </a:solidFill>
          <a:ln w="12700">
            <a:solidFill>
              <a:srgbClr val="06C16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0" y="2194560"/>
            <a:ext cx="210312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6C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7.2M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6858000" y="2660904"/>
            <a:ext cx="21031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zone-hour rows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235440" y="2057400"/>
            <a:ext cx="2377440" cy="1005840"/>
          </a:xfrm>
          <a:prstGeom prst="rect">
            <a:avLst/>
          </a:prstGeom>
          <a:solidFill>
            <a:srgbClr val="1F1F1F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235440" y="2057400"/>
            <a:ext cx="73152" cy="1005840"/>
          </a:xfrm>
          <a:prstGeom prst="rect">
            <a:avLst/>
          </a:prstGeom>
          <a:solidFill>
            <a:srgbClr val="06C167"/>
          </a:solidFill>
          <a:ln w="12700">
            <a:solidFill>
              <a:srgbClr val="06C16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418320" y="2194560"/>
            <a:ext cx="210312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6C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mo</a:t>
            </a:r>
            <a:endParaRPr lang="en-US" sz="3200" dirty="0"/>
          </a:p>
        </p:txBody>
      </p:sp>
      <p:sp>
        <p:nvSpPr>
          <p:cNvPr id="32" name="Text 30"/>
          <p:cNvSpPr/>
          <p:nvPr/>
        </p:nvSpPr>
        <p:spPr>
          <a:xfrm>
            <a:off x="9418320" y="2660904"/>
            <a:ext cx="21031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24 – Aug 25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675120" y="3154680"/>
            <a:ext cx="2377440" cy="1005840"/>
          </a:xfrm>
          <a:prstGeom prst="rect">
            <a:avLst/>
          </a:prstGeom>
          <a:solidFill>
            <a:srgbClr val="1F1F1F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675120" y="3154680"/>
            <a:ext cx="73152" cy="1005840"/>
          </a:xfrm>
          <a:prstGeom prst="rect">
            <a:avLst/>
          </a:prstGeom>
          <a:solidFill>
            <a:srgbClr val="06C167"/>
          </a:solidFill>
          <a:ln w="12700">
            <a:solidFill>
              <a:srgbClr val="06C16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291840"/>
            <a:ext cx="210312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6C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263</a:t>
            </a:r>
            <a:endParaRPr lang="en-US" sz="3200" dirty="0"/>
          </a:p>
        </p:txBody>
      </p:sp>
      <p:sp>
        <p:nvSpPr>
          <p:cNvPr id="36" name="Text 34"/>
          <p:cNvSpPr/>
          <p:nvPr/>
        </p:nvSpPr>
        <p:spPr>
          <a:xfrm>
            <a:off x="6858000" y="3758184"/>
            <a:ext cx="21031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TLC zones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9235440" y="3154680"/>
            <a:ext cx="2377440" cy="1005840"/>
          </a:xfrm>
          <a:prstGeom prst="rect">
            <a:avLst/>
          </a:prstGeom>
          <a:solidFill>
            <a:srgbClr val="1F1F1F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235440" y="3154680"/>
            <a:ext cx="73152" cy="1005840"/>
          </a:xfrm>
          <a:prstGeom prst="rect">
            <a:avLst/>
          </a:prstGeom>
          <a:solidFill>
            <a:srgbClr val="06C167"/>
          </a:solidFill>
          <a:ln w="12700">
            <a:solidFill>
              <a:srgbClr val="06C16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418320" y="3291840"/>
            <a:ext cx="210312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6C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14,616</a:t>
            </a:r>
            <a:endParaRPr lang="en-US" sz="3200" dirty="0"/>
          </a:p>
        </p:txBody>
      </p:sp>
      <p:sp>
        <p:nvSpPr>
          <p:cNvPr id="40" name="Text 38"/>
          <p:cNvSpPr/>
          <p:nvPr/>
        </p:nvSpPr>
        <p:spPr>
          <a:xfrm>
            <a:off x="9418320" y="3758184"/>
            <a:ext cx="21031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hours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675120" y="4251960"/>
            <a:ext cx="2377440" cy="1005840"/>
          </a:xfrm>
          <a:prstGeom prst="rect">
            <a:avLst/>
          </a:prstGeom>
          <a:solidFill>
            <a:srgbClr val="1F1F1F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675120" y="4251960"/>
            <a:ext cx="73152" cy="1005840"/>
          </a:xfrm>
          <a:prstGeom prst="rect">
            <a:avLst/>
          </a:prstGeom>
          <a:solidFill>
            <a:srgbClr val="06C167"/>
          </a:solidFill>
          <a:ln w="12700">
            <a:solidFill>
              <a:srgbClr val="06C16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58000" y="4389120"/>
            <a:ext cx="210312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6C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</a:t>
            </a:r>
            <a:endParaRPr lang="en-US" sz="3200" dirty="0"/>
          </a:p>
        </p:txBody>
      </p:sp>
      <p:sp>
        <p:nvSpPr>
          <p:cNvPr id="44" name="Text 42"/>
          <p:cNvSpPr/>
          <p:nvPr/>
        </p:nvSpPr>
        <p:spPr>
          <a:xfrm>
            <a:off x="6858000" y="4855464"/>
            <a:ext cx="21031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9235440" y="4251960"/>
            <a:ext cx="2377440" cy="1005840"/>
          </a:xfrm>
          <a:prstGeom prst="rect">
            <a:avLst/>
          </a:prstGeom>
          <a:solidFill>
            <a:srgbClr val="1F1F1F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235440" y="4251960"/>
            <a:ext cx="73152" cy="1005840"/>
          </a:xfrm>
          <a:prstGeom prst="rect">
            <a:avLst/>
          </a:prstGeom>
          <a:solidFill>
            <a:srgbClr val="06C167"/>
          </a:solidFill>
          <a:ln w="12700">
            <a:solidFill>
              <a:srgbClr val="06C16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418320" y="4389120"/>
            <a:ext cx="210312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6C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$4.97/mi</a:t>
            </a:r>
            <a:endParaRPr lang="en-US" sz="3200" dirty="0"/>
          </a:p>
        </p:txBody>
      </p:sp>
      <p:sp>
        <p:nvSpPr>
          <p:cNvPr id="48" name="Text 46"/>
          <p:cNvSpPr/>
          <p:nvPr/>
        </p:nvSpPr>
        <p:spPr>
          <a:xfrm>
            <a:off x="9418320" y="4855464"/>
            <a:ext cx="21031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fare-per-mile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675120" y="5440680"/>
            <a:ext cx="4937760" cy="1097280"/>
          </a:xfrm>
          <a:prstGeom prst="rect">
            <a:avLst/>
          </a:prstGeom>
          <a:solidFill>
            <a:srgbClr val="151515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812280" y="553212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6C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METHODOLOGY DECISIONS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812280" y="5779008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Ratio-of-sums fare-per-mile (after stripping CBD fees)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Hour-level event windows (sym ±3hr / asym -2/+4hr)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NJ-venue events flagged on Manhattan departure zones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365760" y="65379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Uber GPA Lead Case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251960" y="6537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Thomas Cooper  •  May 2026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10789920" y="653796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6C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•  METHODOLOGY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shock categories × two operational counterfactuals = a framework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828800"/>
            <a:ext cx="2194560" cy="1463040"/>
          </a:xfrm>
          <a:prstGeom prst="rect">
            <a:avLst/>
          </a:prstGeom>
          <a:solidFill>
            <a:srgbClr val="1F1F1F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828800"/>
            <a:ext cx="2194560" cy="54864"/>
          </a:xfrm>
          <a:prstGeom prst="rect">
            <a:avLst/>
          </a:prstGeom>
          <a:solidFill>
            <a:srgbClr val="06C167"/>
          </a:solidFill>
          <a:ln w="12700">
            <a:solidFill>
              <a:srgbClr val="06C16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9659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6C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77240" y="23774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26974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 + civic + parades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898648" y="1828800"/>
            <a:ext cx="2194560" cy="1463040"/>
          </a:xfrm>
          <a:prstGeom prst="rect">
            <a:avLst/>
          </a:prstGeom>
          <a:solidFill>
            <a:srgbClr val="1F1F1F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98648" y="1828800"/>
            <a:ext cx="2194560" cy="54864"/>
          </a:xfrm>
          <a:prstGeom prst="rect">
            <a:avLst/>
          </a:prstGeom>
          <a:solidFill>
            <a:srgbClr val="06C167"/>
          </a:solidFill>
          <a:ln w="12700">
            <a:solidFill>
              <a:srgbClr val="06C16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35808" y="19659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6C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035808" y="23774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WEATHER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035808" y="26974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+ temp + storms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157216" y="1828800"/>
            <a:ext cx="2194560" cy="1463040"/>
          </a:xfrm>
          <a:prstGeom prst="rect">
            <a:avLst/>
          </a:prstGeom>
          <a:solidFill>
            <a:srgbClr val="1F1F1F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157216" y="1828800"/>
            <a:ext cx="2194560" cy="54864"/>
          </a:xfrm>
          <a:prstGeom prst="rect">
            <a:avLst/>
          </a:prstGeom>
          <a:solidFill>
            <a:srgbClr val="06C167"/>
          </a:solidFill>
          <a:ln w="12700">
            <a:solidFill>
              <a:srgbClr val="06C16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94376" y="19659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6C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294376" y="23774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294376" y="26974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Subway substitution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415784" y="1828800"/>
            <a:ext cx="2194560" cy="1463040"/>
          </a:xfrm>
          <a:prstGeom prst="rect">
            <a:avLst/>
          </a:prstGeom>
          <a:solidFill>
            <a:srgbClr val="1F1F1F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15784" y="1828800"/>
            <a:ext cx="2194560" cy="54864"/>
          </a:xfrm>
          <a:prstGeom prst="rect">
            <a:avLst/>
          </a:prstGeom>
          <a:solidFill>
            <a:srgbClr val="06C167"/>
          </a:solidFill>
          <a:ln w="12700">
            <a:solidFill>
              <a:srgbClr val="06C16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52944" y="19659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6C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552944" y="23774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552944" y="26974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Congestion pricing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674352" y="1828800"/>
            <a:ext cx="2194560" cy="1463040"/>
          </a:xfrm>
          <a:prstGeom prst="rect">
            <a:avLst/>
          </a:prstGeom>
          <a:solidFill>
            <a:srgbClr val="1F1F1F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674352" y="1828800"/>
            <a:ext cx="2194560" cy="54864"/>
          </a:xfrm>
          <a:prstGeom prst="rect">
            <a:avLst/>
          </a:prstGeom>
          <a:solidFill>
            <a:srgbClr val="06C167"/>
          </a:solidFill>
          <a:ln w="12700">
            <a:solidFill>
              <a:srgbClr val="06C16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811512" y="19659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6C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9811512" y="23774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POLITICAL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811512" y="26974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GA + elections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0080" y="35204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Per-shock analysis →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097280" y="3931920"/>
            <a:ext cx="5029200" cy="2286000"/>
          </a:xfrm>
          <a:prstGeom prst="rect">
            <a:avLst/>
          </a:prstGeom>
          <a:solidFill>
            <a:srgbClr val="1F1F1F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97280" y="3931920"/>
            <a:ext cx="73152" cy="22860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280160" y="40690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COUNTERFACTUAL A — PRICING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280160" y="43434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 fare-per-mile during shocks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280160" y="4754880"/>
            <a:ext cx="4754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Raise prices to clear excess demand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Capture: ΔP × Q (after demand response adjustment)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Highest dollar capture per shock event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Considerations: regulatory environment, competitive response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Effectiveness varies by shock type (see slide 10)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400800" y="3931920"/>
            <a:ext cx="5029200" cy="2286000"/>
          </a:xfrm>
          <a:prstGeom prst="rect">
            <a:avLst/>
          </a:prstGeom>
          <a:solidFill>
            <a:srgbClr val="1F1F1F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00800" y="3931920"/>
            <a:ext cx="73152" cy="2286000"/>
          </a:xfrm>
          <a:prstGeom prst="rect">
            <a:avLst/>
          </a:prstGeom>
          <a:solidFill>
            <a:srgbClr val="06C167"/>
          </a:solidFill>
          <a:ln w="12700">
            <a:solidFill>
              <a:srgbClr val="06C16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83680" y="40690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6C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COUNTERFACTUAL B — SUPPLY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583680" y="43434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Pre-position drivers ahead of shocks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583680" y="4754880"/>
            <a:ext cx="4754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Drivers staged before predictable demand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Capture: extra trips × base fare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Lower headline $ but operational (no surcharge)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Defensible across all shock types uniformly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Builds long-term supply infrastructure (franchise value)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365760" y="65379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Uber GPA Lead Case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251960" y="6537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Thomas Cooper  •  May 2026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0789920" y="653796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6C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•  EXPLORATORY ANALYSIS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drops at Jan 5, 2025; standard NYC patterns confirm data integrity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783080"/>
            <a:ext cx="73152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A2A2A"/>
            </a:solidFill>
            <a:prstDash val="solid"/>
          </a:ln>
        </p:spPr>
      </p:sp>
      <p:pic>
        <p:nvPicPr>
          <p:cNvPr id="6" name="Image 0" descr="/home/claude/01_daily_volume_combin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828800"/>
            <a:ext cx="7223760" cy="3794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5623560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N01 daily volume combined | Jan 2024 – Aug 2025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8229600" y="17830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6C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EDA FINDINGS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229600" y="2148840"/>
            <a:ext cx="3383280" cy="914400"/>
          </a:xfrm>
          <a:prstGeom prst="rect">
            <a:avLst/>
          </a:prstGeom>
          <a:solidFill>
            <a:srgbClr val="1F1F1F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321040" y="22219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6C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8686800" y="222199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drops at Jan 5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686800" y="251460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Pre-CP daily mean ~680K trips; post-CP ~640K. Clean DiD signal but pre-trends matter (slide 9).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8229600" y="3118104"/>
            <a:ext cx="3383280" cy="914400"/>
          </a:xfrm>
          <a:prstGeom prst="rect">
            <a:avLst/>
          </a:prstGeom>
          <a:solidFill>
            <a:srgbClr val="1F1F1F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321040" y="31912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6C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8686800" y="3191256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Fare-per-mile DROPPED post-CP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86800" y="3483864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stripping toll passthrough, underlying surge softened. Reframe: 'volume crashed, fare held.'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8229600" y="4087368"/>
            <a:ext cx="3383280" cy="914400"/>
          </a:xfrm>
          <a:prstGeom prst="rect">
            <a:avLst/>
          </a:prstGeom>
          <a:solidFill>
            <a:srgbClr val="1F1F1F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321040" y="4160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6C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8686800" y="41605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profile = standard NYC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8686800" y="445312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8am + 6pm peaks confirmed across both platforms. Sanity check passed.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8229600" y="5056632"/>
            <a:ext cx="3383280" cy="914400"/>
          </a:xfrm>
          <a:prstGeom prst="rect">
            <a:avLst/>
          </a:prstGeom>
          <a:solidFill>
            <a:srgbClr val="1F1F1F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321040" y="51297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6C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8686800" y="5129784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Lyft non-stationary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686800" y="542239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Stationarity test fails for Lyft (p=0.18) but passes for Uber (p=0.002). Mitigated via panel fixed-effects + first-differences.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40080" y="6035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data quality before causal analysis. Hour-of-day, DoW heatmap, choropleth, and STL decomposition in appendix.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365760" y="65379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Uber GPA Lead Case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4251960" y="6537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Thomas Cooper  •  May 2026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0789920" y="653796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6C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1  •  EVENTS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Sports lift trips ~4–6%, but parades CRUSH demand (-30% to -97%) — operational blockers, not pricing shocks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783080"/>
            <a:ext cx="640080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2A2A2A"/>
            </a:solidFill>
            <a:prstDash val="solid"/>
          </a:ln>
        </p:spPr>
      </p:sp>
      <p:pic>
        <p:nvPicPr>
          <p:cNvPr id="6" name="Image 0" descr="/home/claude/02_nyc_sports_lift_distribu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828800"/>
            <a:ext cx="6309360" cy="3886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571500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N02 NYC sports per-event distribution | N=4,340 event-hours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7269480" y="1783080"/>
            <a:ext cx="4343400" cy="914400"/>
          </a:xfrm>
          <a:prstGeom prst="rect">
            <a:avLst/>
          </a:prstGeom>
          <a:solidFill>
            <a:srgbClr val="1F1F1F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269480" y="1783080"/>
            <a:ext cx="73152" cy="914400"/>
          </a:xfrm>
          <a:prstGeom prst="rect">
            <a:avLst/>
          </a:prstGeom>
          <a:solidFill>
            <a:srgbClr val="06C167"/>
          </a:solidFill>
          <a:ln w="12700">
            <a:solidFill>
              <a:srgbClr val="06C16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452360" y="192024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6C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+4.1%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7452360" y="2331720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NYC sports median lift (per-event)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269480" y="2788920"/>
            <a:ext cx="4343400" cy="914400"/>
          </a:xfrm>
          <a:prstGeom prst="rect">
            <a:avLst/>
          </a:prstGeom>
          <a:solidFill>
            <a:srgbClr val="1F1F1F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269480" y="2788920"/>
            <a:ext cx="73152" cy="914400"/>
          </a:xfrm>
          <a:prstGeom prst="rect">
            <a:avLst/>
          </a:prstGeom>
          <a:solidFill>
            <a:srgbClr val="06C167"/>
          </a:solidFill>
          <a:ln w="12700">
            <a:solidFill>
              <a:srgbClr val="06C16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452360" y="292608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6C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+5.7%</a:t>
            </a:r>
            <a:endParaRPr lang="en-US" sz="3200" dirty="0"/>
          </a:p>
        </p:txBody>
      </p:sp>
      <p:sp>
        <p:nvSpPr>
          <p:cNvPr id="15" name="Text 12"/>
          <p:cNvSpPr/>
          <p:nvPr/>
        </p:nvSpPr>
        <p:spPr>
          <a:xfrm>
            <a:off x="7452360" y="3337560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NJ pre-game lift (Manhattan dep. zones)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269480" y="3794760"/>
            <a:ext cx="4343400" cy="914400"/>
          </a:xfrm>
          <a:prstGeom prst="rect">
            <a:avLst/>
          </a:prstGeom>
          <a:solidFill>
            <a:srgbClr val="1F1F1F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269480" y="3794760"/>
            <a:ext cx="73152" cy="9144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452360" y="393192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−97%</a:t>
            </a:r>
            <a:endParaRPr lang="en-US" sz="3200" dirty="0"/>
          </a:p>
        </p:txBody>
      </p:sp>
      <p:sp>
        <p:nvSpPr>
          <p:cNvPr id="19" name="Text 16"/>
          <p:cNvSpPr/>
          <p:nvPr/>
        </p:nvSpPr>
        <p:spPr>
          <a:xfrm>
            <a:off x="7452360" y="4343400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NYE Ball Drop, Times Sq (operational blocker)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7269480" y="4800600"/>
            <a:ext cx="4343400" cy="1280160"/>
          </a:xfrm>
          <a:prstGeom prst="rect">
            <a:avLst/>
          </a:prstGeom>
          <a:solidFill>
            <a:srgbClr val="151515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406640" y="489204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REFRAME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7406640" y="5166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Civic event negatives aren't 'no demand' — they're physical access blocked by street closures. Different operational lever entirely (reroute + comms vs surge).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40080" y="6126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6C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Methodology: </a:t>
            </a:r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hour-level event windows (sym ±3hr); collapse-first matched (zone, hour-of-week) baseline; paired one-sample t-test on (event − baseline) differences. </a:t>
            </a:r>
            <a:pPr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4,083 NYC sports event-hours, 14 civic events. NYE is the most extreme; civic events MEDIAN lift = −30.6%.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365760" y="65379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Uber GPA Lead Case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4251960" y="6537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Thomas Cooper  •  May 2026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0789920" y="653796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6C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2 + 3  •  WEATHER &amp; SUBSTITUTION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Heavy rain pushes riders TO rideshare (+4.4%); subway does NOT substitute for rideshare — modes co-move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783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6C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ELASTICITY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54864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2A2A2A"/>
            </a:solidFill>
            <a:prstDash val="solid"/>
          </a:ln>
        </p:spPr>
      </p:sp>
      <p:pic>
        <p:nvPicPr>
          <p:cNvPr id="7" name="Image 0" descr="/home/claude/04_weather_fores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2148840"/>
            <a:ext cx="5394960" cy="31546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530352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N04 weather coefficient forest plot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640080" y="5669280"/>
            <a:ext cx="5486400" cy="777240"/>
          </a:xfrm>
          <a:prstGeom prst="rect">
            <a:avLst/>
          </a:prstGeom>
          <a:solidFill>
            <a:srgbClr val="1F1F1F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576072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C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+0.5% </a:t>
            </a:r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 </a:t>
            </a:r>
            <a:pPr algn="ctr" indent="0" marL="0">
              <a:buNone/>
            </a:pPr>
            <a:r>
              <a:rPr lang="en-US" sz="1300" b="1" dirty="0">
                <a:solidFill>
                  <a:srgbClr val="06C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+2.2% </a:t>
            </a:r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 </a:t>
            </a:r>
            <a:pPr algn="ctr" indent="0" marL="0">
              <a:buNone/>
            </a:pPr>
            <a:r>
              <a:rPr lang="en-US" sz="1300" b="1" dirty="0">
                <a:solidFill>
                  <a:srgbClr val="06C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+4.4% </a:t>
            </a:r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 </a:t>
            </a:r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−1.9% </a:t>
            </a:r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storm warn.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400800" y="17830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6C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CROSS-MODAL SUBSTITUTION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400800" y="2103120"/>
            <a:ext cx="52120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2A2A2A"/>
            </a:solidFill>
            <a:prstDash val="solid"/>
          </a:ln>
        </p:spPr>
      </p:sp>
      <p:pic>
        <p:nvPicPr>
          <p:cNvPr id="13" name="Image 1" descr="/home/claude/05_substitution_scatter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46520" y="2148840"/>
            <a:ext cx="5120640" cy="31546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492240" y="530352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N05 substitution hexbin pre/post-CP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6400800" y="5669280"/>
            <a:ext cx="5212080" cy="777240"/>
          </a:xfrm>
          <a:prstGeom prst="rect">
            <a:avLst/>
          </a:prstGeom>
          <a:solidFill>
            <a:srgbClr val="1F1F1F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537960" y="576072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C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β=+0.23 </a:t>
            </a:r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modes move TOGETHER  </a:t>
            </a:r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β=+0.13 </a:t>
            </a:r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decouple in heavy rain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365760" y="65379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Uber GPA Lead Case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4251960" y="6537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Thomas Cooper  •  May 2026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10789920" y="653796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6C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4  •  CONGESTION PRICING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Naive difference-in-differences (DiD) says −11% volume; pre-trends placebo failed → true causal ~0–4%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783080"/>
            <a:ext cx="68580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2A2A2A"/>
            </a:solidFill>
            <a:prstDash val="solid"/>
          </a:ln>
        </p:spPr>
      </p:sp>
      <p:pic>
        <p:nvPicPr>
          <p:cNvPr id="6" name="Image 0" descr="/home/claude/03_event_study_plo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828800"/>
            <a:ext cx="6766560" cy="2971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4800600"/>
            <a:ext cx="6675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N03 weekly + daily event-study coefficients with 95% CIs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640080" y="5212080"/>
            <a:ext cx="6858000" cy="960120"/>
          </a:xfrm>
          <a:prstGeom prst="rect">
            <a:avLst/>
          </a:prstGeom>
          <a:solidFill>
            <a:srgbClr val="151515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5285232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6C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PLACEBO TEST?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77240" y="5532120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placebo runs the same DiD specification on FAKE treatment dates BEFORE the real Jan 5 2025 cutoff. If congestion pricing is the cause of the −11% gap, placebos should return ~0% effects. They don't — all four return significant negatives, meaning CRZ vs non-CRZ trends were already diverging before CP went live.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772400" y="1783080"/>
            <a:ext cx="3840480" cy="4206240"/>
          </a:xfrm>
          <a:prstGeom prst="rect">
            <a:avLst/>
          </a:prstGeom>
          <a:solidFill>
            <a:srgbClr val="1F1F1F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909560" y="1874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PLACEBO REVEALED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909560" y="2194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placebo dates pre-Jan 5 show significant negative β: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909560" y="260604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Jun 2024  </a:t>
            </a:r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β=−0.080</a:t>
            </a:r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Sep 2024  </a:t>
            </a:r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β=−0.058</a:t>
            </a:r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Nov 2024  </a:t>
            </a:r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β=−0.096</a:t>
            </a:r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 2024  </a:t>
            </a:r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β=−0.126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909560" y="3931920"/>
            <a:ext cx="352044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909560" y="40690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6C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INTERPRETATION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7909560" y="434340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CRZ–non-CRZ trends were already diverging pre-CP. Naive DiD overstates by ~7-10pp. After adjusting for pre-trend, true causal effect is closer to 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909560" y="5166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0–4%, not 11%.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7909560" y="55321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 check (excluding ±2 weeks around Jan 5) confirms the pattern persists.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365760" y="65379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Uber GPA Lead Case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4251960" y="6537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Thomas Cooper  •  May 2026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0789920" y="653796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17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6C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•  STRATEGY MATRIX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Per-shock recommendation: pricing wins for sports + NJ pregame + heavy rain; supply withdrawal for storms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783080"/>
            <a:ext cx="10972800" cy="457200"/>
          </a:xfrm>
          <a:prstGeom prst="rect">
            <a:avLst/>
          </a:prstGeom>
          <a:solidFill>
            <a:srgbClr val="151515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874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06C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SHOCK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926080" y="1874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06C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NET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937760" y="1874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06C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(CENTRAL)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949440" y="1874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06C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778240" y="1874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06C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2286000"/>
            <a:ext cx="10972800" cy="544068"/>
          </a:xfrm>
          <a:prstGeom prst="rect">
            <a:avLst/>
          </a:prstGeom>
          <a:solidFill>
            <a:srgbClr val="1F1F1F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331720"/>
            <a:ext cx="201168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NYC sports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926080" y="2331720"/>
            <a:ext cx="182880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$0.77M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37760" y="2331720"/>
            <a:ext cx="182880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$0.75M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949440" y="2331720"/>
            <a:ext cx="164592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1.02×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778240" y="2331720"/>
            <a:ext cx="274320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(tie)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2830068"/>
            <a:ext cx="10972800" cy="544068"/>
          </a:xfrm>
          <a:prstGeom prst="rect">
            <a:avLst/>
          </a:prstGeom>
          <a:solidFill>
            <a:srgbClr val="0A0A0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2875788"/>
            <a:ext cx="201168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NJ pregame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926080" y="2875788"/>
            <a:ext cx="182880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$1.86M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37760" y="2875788"/>
            <a:ext cx="182880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$1.00M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949440" y="2875788"/>
            <a:ext cx="164592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1.86×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778240" y="2875788"/>
            <a:ext cx="274320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6C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dominant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" y="3374136"/>
            <a:ext cx="10972800" cy="544068"/>
          </a:xfrm>
          <a:prstGeom prst="rect">
            <a:avLst/>
          </a:prstGeom>
          <a:solidFill>
            <a:srgbClr val="1F1F1F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3419856"/>
            <a:ext cx="201168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rain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926080" y="3419856"/>
            <a:ext cx="182880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$2.95M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937760" y="3419856"/>
            <a:ext cx="182880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$1.74M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949440" y="3419856"/>
            <a:ext cx="164592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1.69×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778240" y="3419856"/>
            <a:ext cx="274320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6C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dominant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0080" y="3918204"/>
            <a:ext cx="10972800" cy="544068"/>
          </a:xfrm>
          <a:prstGeom prst="rect">
            <a:avLst/>
          </a:prstGeom>
          <a:solidFill>
            <a:srgbClr val="0A0A0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3963924"/>
            <a:ext cx="201168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Storm active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926080" y="3963924"/>
            <a:ext cx="182880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$0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937760" y="3963924"/>
            <a:ext cx="182880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$2.99M*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949440" y="3963924"/>
            <a:ext cx="164592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N/A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778240" y="3963924"/>
            <a:ext cx="274320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Withdraw drivers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40080" y="4462272"/>
            <a:ext cx="10972800" cy="544068"/>
          </a:xfrm>
          <a:prstGeom prst="rect">
            <a:avLst/>
          </a:prstGeom>
          <a:solidFill>
            <a:srgbClr val="1F1F1F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1520" y="4507992"/>
            <a:ext cx="201168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Civic events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2926080" y="4507992"/>
            <a:ext cx="182880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937760" y="4507992"/>
            <a:ext cx="182880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949440" y="4507992"/>
            <a:ext cx="164592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N/A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778240" y="4507992"/>
            <a:ext cx="274320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(reroute)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40080" y="5006340"/>
            <a:ext cx="10972800" cy="544068"/>
          </a:xfrm>
          <a:prstGeom prst="rect">
            <a:avLst/>
          </a:prstGeom>
          <a:solidFill>
            <a:srgbClr val="0A0A0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31520" y="5052060"/>
            <a:ext cx="201168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Political (N=6)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2926080" y="5052060"/>
            <a:ext cx="182880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937760" y="5052060"/>
            <a:ext cx="182880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949440" y="5052060"/>
            <a:ext cx="164592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N/A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8778240" y="5052060"/>
            <a:ext cx="274320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Deferred (exploratory)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40080" y="5532120"/>
            <a:ext cx="10972800" cy="1005840"/>
          </a:xfrm>
          <a:prstGeom prst="rect">
            <a:avLst/>
          </a:prstGeom>
          <a:solidFill>
            <a:srgbClr val="1F1F1F"/>
          </a:solidFill>
          <a:ln w="25400">
            <a:solidFill>
              <a:srgbClr val="06C16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7240" y="562356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6C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SUMMARY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777240" y="589788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pricing to NJ pregame + heavy rain ($4.8M combined). Pricing-leaning tie on sports ($0.77M, judgment call). Storms: WITHDRAW drivers — demand is falling, no pricing opportunity exists. Civic + political events use operational levers (rerouting, comms), not pricing or supply.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Supply $2.99M for storms assumes drivers stay on the road; honest read is the optimal action is withdrawal to avoid waste.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365760" y="65379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Uber GPA Lead Case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251960" y="6537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Thomas Cooper  •  May 2026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0789920" y="653796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17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6C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•  METHODOLOGY RIGOR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Cross-elasticity (η) varies by shock; data-derived per-shock values, not assumed uniform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783080"/>
            <a:ext cx="6400800" cy="457200"/>
          </a:xfrm>
          <a:prstGeom prst="rect">
            <a:avLst/>
          </a:prstGeom>
          <a:solidFill>
            <a:srgbClr val="151515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874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6C167"/>
                </a:solidFill>
              </a:rPr>
              <a:t>SHOCK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377440" y="1874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6C167"/>
                </a:solidFill>
              </a:rPr>
              <a:t>UBER LIFT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11880" y="1874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6C167"/>
                </a:solidFill>
              </a:rPr>
              <a:t>LYFT LIFT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846320" y="1874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6C167"/>
                </a:solidFill>
              </a:rPr>
              <a:t>OBSERVED η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035040" y="1874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6C167"/>
                </a:solidFill>
              </a:rPr>
              <a:t>RANGE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2286000"/>
            <a:ext cx="6400800" cy="502920"/>
          </a:xfrm>
          <a:prstGeom prst="rect">
            <a:avLst/>
          </a:prstGeom>
          <a:solidFill>
            <a:srgbClr val="1F1F1F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3317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Sports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377440" y="23317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+4.4%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11880" y="23317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+8.1%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46320" y="23317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C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0.45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035040" y="233172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0.23-0.68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" y="2788920"/>
            <a:ext cx="6400800" cy="502920"/>
          </a:xfrm>
          <a:prstGeom prst="rect">
            <a:avLst/>
          </a:prstGeom>
          <a:solidFill>
            <a:srgbClr val="0A0A0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2834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NJ pregame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377440" y="283464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+8.5%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11880" y="283464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+6.6%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46320" y="2834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C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0.00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035040" y="28346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0.0-0.0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0080" y="3291840"/>
            <a:ext cx="6400800" cy="502920"/>
          </a:xfrm>
          <a:prstGeom prst="rect">
            <a:avLst/>
          </a:prstGeom>
          <a:solidFill>
            <a:srgbClr val="1F1F1F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33375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Heavy rain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377440" y="33375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+16.8%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611880" y="33375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+19.0%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46320" y="33375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C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0.09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035040" y="333756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0.04-0.13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0080" y="3794760"/>
            <a:ext cx="6400800" cy="502920"/>
          </a:xfrm>
          <a:prstGeom prst="rect">
            <a:avLst/>
          </a:prstGeom>
          <a:solidFill>
            <a:srgbClr val="0A0A0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" y="38404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Storm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377440" y="38404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+1.6%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611880" y="38404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+2.3%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46320" y="38404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C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0.11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035040" y="38404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0.06-0.17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40080" y="438912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 computed as: max(0, (Lyft lift − Uber lift) / Uber fare-per-mile lift). Lam &amp; Liu 2017 methodology adapted from 5-min to hourly granularity. ±50% sensitivity range applied.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269480" y="1783080"/>
            <a:ext cx="4343400" cy="4572000"/>
          </a:xfrm>
          <a:prstGeom prst="rect">
            <a:avLst/>
          </a:prstGeom>
          <a:solidFill>
            <a:srgbClr val="1F1F1F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269480" y="1783080"/>
            <a:ext cx="73152" cy="4572000"/>
          </a:xfrm>
          <a:prstGeom prst="rect">
            <a:avLst/>
          </a:prstGeom>
          <a:solidFill>
            <a:srgbClr val="06C167"/>
          </a:solidFill>
          <a:ln w="12700">
            <a:solidFill>
              <a:srgbClr val="06C16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452360" y="1874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6C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452360" y="21488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Cross-elasticity is NOT uniform.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7452360" y="2560320"/>
            <a:ext cx="41148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06C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 games:  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Lyft lifts MORE than Uber (8.1% vs 4.4%) → riders DO switch when Uber surges. η = 0.45.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06C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rain:  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surge similarly (19% Lyft, 17% Uber) → riders captive to rideshare, no Lyft escape. η = 0.09.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06C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NJ pregame:  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Uber lifts MORE than Lyft → no observable substitution. η ≈ 0.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 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 η=0.4 would've underestimated pricing capture for rain (where Lyft can't take share) and overestimated it for sports. Per-shock η is more accurate.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365760" y="65379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Uber GPA Lead Case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251960" y="6537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Thomas Cooper  •  May 2026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0789920" y="653796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17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6C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•  FORWARD APPLICATION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 Cup 2026 at MetLife: $0.8M verified narrow + $8.1M–$10.8M broader scenario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783080"/>
            <a:ext cx="59436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2A2A2A"/>
            </a:solidFill>
            <a:prstDash val="solid"/>
          </a:ln>
        </p:spPr>
      </p:sp>
      <p:pic>
        <p:nvPicPr>
          <p:cNvPr id="6" name="Image 0" descr="/home/claude/08_world_cup_scenari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828800"/>
            <a:ext cx="5852160" cy="36118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5440680"/>
            <a:ext cx="5760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N08 L1 narrow stacked capture | L4 broader scenario in cards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6858000" y="17830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6C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SIZING (SCOPE-DISCIPLINED)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858000" y="2103120"/>
            <a:ext cx="4754880" cy="1417320"/>
          </a:xfrm>
          <a:prstGeom prst="rect">
            <a:avLst/>
          </a:prstGeom>
          <a:solidFill>
            <a:srgbClr val="1F1F1F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858000" y="2103120"/>
            <a:ext cx="73152" cy="1417320"/>
          </a:xfrm>
          <a:prstGeom prst="rect">
            <a:avLst/>
          </a:prstGeom>
          <a:solidFill>
            <a:srgbClr val="06C167"/>
          </a:solidFill>
          <a:ln w="12700">
            <a:solidFill>
              <a:srgbClr val="06C16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040880" y="2194560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6C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 — VERIFIED NARROW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040880" y="24231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6C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$0.8M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7040880" y="2907792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Tournament total at +1M tourists. Manhattan pre-game departure, 4-hr window, 50% supply capture. Direct from N02 NJ-venue methodology + N07 capture frac. 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858000" y="3611880"/>
            <a:ext cx="4754880" cy="1691640"/>
          </a:xfrm>
          <a:prstGeom prst="rect">
            <a:avLst/>
          </a:prstGeom>
          <a:solidFill>
            <a:srgbClr val="1F1F1F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858000" y="3611880"/>
            <a:ext cx="73152" cy="1691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040880" y="3703320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 — FULL OPPORTUNITY (EXTRAPOLATED)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7040880" y="39319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$8.1M – $10.8M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7040880" y="443484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+500K / +1M / +2M tourists. Adds: return trips (1.5×, judgment), outer-borough origins (1.8×, NYC &amp; Co. visitor data), multi-day tourist window (4×, Airbnb FIFA stay data). Cumulative ~10.8×.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858000" y="5440680"/>
            <a:ext cx="4754880" cy="914400"/>
          </a:xfrm>
          <a:prstGeom prst="rect">
            <a:avLst/>
          </a:prstGeom>
          <a:solidFill>
            <a:srgbClr val="151515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995160" y="5513832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6C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PLAY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995160" y="5733288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forecastable-shock pricing 4-6hrs pre-kickoff in Manhattan departure clusters. Final = max surge tier. 8-language in-app prompts. Monitor Lyft baseline pricing for competitive calibration.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640080" y="5852160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b="1" spc="200" kern="0" dirty="0">
                <a:solidFill>
                  <a:srgbClr val="06C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DISCIPLINE:  </a:t>
            </a:r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is what public data verifies directly. L2-L4 multipliers anchored to NYC &amp; Co. visitor data + Airbnb FIFA travel research (citations in appendix).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365760" y="65379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Uber GPA Lead Case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4251960" y="6537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Thomas Cooper  •  May 2026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0789920" y="653796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17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6C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•  RISKS &amp; NEXT STEPS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missing, what I'd build next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783080"/>
            <a:ext cx="5349240" cy="2331720"/>
          </a:xfrm>
          <a:prstGeom prst="rect">
            <a:avLst/>
          </a:prstGeom>
          <a:solidFill>
            <a:srgbClr val="1F1F1F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92024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6C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LIMITATIONS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2331720"/>
            <a:ext cx="4892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NJ trip-level data not public — only Manhattan→NJ pre-game visible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 multiplier inferred (not observed) from fare-per-mile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driver-side data — supply pre-positioning sized at framework level only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20-month window — weather has 1 summer, 1 winter; political N=6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537960" y="1783080"/>
            <a:ext cx="5349240" cy="2331720"/>
          </a:xfrm>
          <a:prstGeom prst="rect">
            <a:avLst/>
          </a:prstGeom>
          <a:solidFill>
            <a:srgbClr val="1F1F1F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20840" y="192024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6C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ANALYTICAL CAVEATS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766560" y="2331720"/>
            <a:ext cx="4892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Pre-trends placebo failed for CP — true causal ~0–4%, not 11%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Civic event negatives are operational blockers, not demand collapses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Substitution channel ruled out — modes co-move at hourly level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comparison is partial-equilibrium (no Lyft response model)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4251960"/>
            <a:ext cx="11247120" cy="2331720"/>
          </a:xfrm>
          <a:prstGeom prst="rect">
            <a:avLst/>
          </a:prstGeom>
          <a:solidFill>
            <a:srgbClr val="1F1F1F"/>
          </a:solidFill>
          <a:ln w="12700">
            <a:solidFill>
              <a:srgbClr val="06C16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43891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6C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  •  WHAT INTERNAL DATA WOULD ADD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68680" y="4846320"/>
            <a:ext cx="5349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b="1" spc="200" kern="0" dirty="0">
                <a:solidFill>
                  <a:srgbClr val="06C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EXTENSIONS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Bus integration (MTA Bus Hourly) for World Cup substitution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Synthetic control for CP DiD if pre-trend issue is critical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Driver-supply model with internal data (idle time, multi-app)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Borough-level demographic heterogeneity (Census ACS overlay)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355080" y="4846320"/>
            <a:ext cx="5349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b="1" spc="200" kern="0" dirty="0">
                <a:solidFill>
                  <a:srgbClr val="06C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DATA LIFTS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Exact surge multipliers (vs my fare-per-mile proxy)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Wait times → real supply tightness, not driver-pay-derived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Driver dispatch logic + multi-app behavior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Lyft competitive response model from observed history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5760" y="65379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Uber GPA Lead Case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251960" y="6537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Thomas Cooper  •  May 2026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789920" y="653796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17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6C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 •  COMPARABLE EVENTS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4 magnitude is consistent with rideshare revenue at recent mega-events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828800"/>
            <a:ext cx="3657600" cy="2377440"/>
          </a:xfrm>
          <a:prstGeom prst="rect">
            <a:avLst/>
          </a:prstGeom>
          <a:solidFill>
            <a:srgbClr val="1F1F1F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828800"/>
            <a:ext cx="3657600" cy="54864"/>
          </a:xfrm>
          <a:prstGeom prst="rect">
            <a:avLst/>
          </a:prstGeom>
          <a:solidFill>
            <a:srgbClr val="06C167"/>
          </a:solidFill>
          <a:ln w="12700">
            <a:solidFill>
              <a:srgbClr val="06C16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0116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 Bowl LVIII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33172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Vegas, Feb 2024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6C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+33%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822960" y="320040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earnings per hour Super Bowl Sunday vs typical Sunday (Uber-published, Glendale 2023).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22960" y="38862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Uber Blog (uber.com/blog/las-vegas/drive-superbowl-lviii)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434840" y="1828800"/>
            <a:ext cx="3657600" cy="2377440"/>
          </a:xfrm>
          <a:prstGeom prst="rect">
            <a:avLst/>
          </a:prstGeom>
          <a:solidFill>
            <a:srgbClr val="1F1F1F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34840" y="1828800"/>
            <a:ext cx="3657600" cy="54864"/>
          </a:xfrm>
          <a:prstGeom prst="rect">
            <a:avLst/>
          </a:prstGeom>
          <a:solidFill>
            <a:srgbClr val="06C167"/>
          </a:solidFill>
          <a:ln w="12700">
            <a:solidFill>
              <a:srgbClr val="06C16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20116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NJ Transit WC Rail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17720" y="233172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 2026 (planned)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617720" y="26517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6C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$48M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617720" y="320040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NJ Transit estimated revenue from expanded WC rail service to MetLife. Rideshare likely matches or exceeds given dynamic pricing.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617720" y="38862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NJ Transit official estimate (Explore NJ, NBC NY)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229600" y="1828800"/>
            <a:ext cx="3657600" cy="2377440"/>
          </a:xfrm>
          <a:prstGeom prst="rect">
            <a:avLst/>
          </a:prstGeom>
          <a:solidFill>
            <a:srgbClr val="1F1F1F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0" y="1828800"/>
            <a:ext cx="3657600" cy="54864"/>
          </a:xfrm>
          <a:prstGeom prst="rect">
            <a:avLst/>
          </a:prstGeom>
          <a:solidFill>
            <a:srgbClr val="06C167"/>
          </a:solidFill>
          <a:ln w="12700">
            <a:solidFill>
              <a:srgbClr val="06C16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12480" y="20116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WC NY/NJ (FIFA est.)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412480" y="233172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FIFA pre-tournament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412480" y="26517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6C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$6.4B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8412480" y="320040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FIFA-estimated tourist spending NY/NJ region. Rideshare ≈ 2-3% of travel spend → $130-200M implied total rideshare.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412480" y="38862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FIFA economic projection (WHYY, NJ Sec. of State)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40080" y="4526280"/>
            <a:ext cx="10972800" cy="1691640"/>
          </a:xfrm>
          <a:prstGeom prst="rect">
            <a:avLst/>
          </a:prstGeom>
          <a:solidFill>
            <a:srgbClr val="151515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461772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THIS VALIDATES THE LAYER 4 ESTIMATE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77240" y="4937760"/>
            <a:ext cx="10698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 estimate of $8.1M–$10.8M is </a:t>
            </a:r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with comparable evidence: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(1) NJ Transit alone forecasts $48M from WC rail, implying rideshare in the same order or higher given dynamic pricing; (2) Uber's 33% driver-earnings lift on Super Bowl Sunday confirms mega-events are operationally distinct, not just slightly busier; (3) FIFA's own $6.4B NY/NJ tourist spending estimate implies $130–200M total regional rideshare across the tournament. Our Layer 4 represents only the </a:t>
            </a:r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06C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supply-optimization slice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that total — not the full opportunity. L1 ($0.8M) is directly verified from public data; L2-L4 multipliers are anchored to NYC &amp; Co. visitor data and Airbnb FIFA travel research.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Citations: NYC &amp; Co. NYC Visitor Profile · Airbnb FIFA WC 2026 Travel Trends · Roadtrips WC 2026 Travel Guide · NJ Transit (Explore NJ, NBC NY) · FIFA economic projections (WHYY) · Uber Blog Super Bowl LVIII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65760" y="65379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Uber GPA Lead Case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251960" y="6537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Thomas Cooper  •  May 2026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789920" y="653796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17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6C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 •  CITATIONS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academic anchors, data sources, and references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783080"/>
            <a:ext cx="5394960" cy="4846320"/>
          </a:xfrm>
          <a:prstGeom prst="rect">
            <a:avLst/>
          </a:prstGeom>
          <a:solidFill>
            <a:srgbClr val="1F1F1F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783080"/>
            <a:ext cx="73152" cy="4846320"/>
          </a:xfrm>
          <a:prstGeom prst="rect">
            <a:avLst/>
          </a:prstGeom>
          <a:solidFill>
            <a:srgbClr val="06C167"/>
          </a:solidFill>
          <a:ln w="12700">
            <a:solidFill>
              <a:srgbClr val="06C16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8745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6C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PAPERS &amp; METHODOLOGY</a:t>
            </a:r>
            <a:endParaRPr lang="en-US" sz="1100" dirty="0"/>
          </a:p>
        </p:txBody>
      </p:sp>
      <p:sp>
        <p:nvSpPr>
          <p:cNvPr id="8" name="Text 6">
            <a:hlinkClick r:id="rId1" tooltip="https://www.nber.org/papers/w22627"/>
          </p:cNvPr>
          <p:cNvSpPr/>
          <p:nvPr/>
        </p:nvSpPr>
        <p:spPr>
          <a:xfrm>
            <a:off x="868680" y="224028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https://www.nber.org/papers/w22627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Using Big Data to Estimate Consumer Surplus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2496312"/>
            <a:ext cx="5074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Cohen, Hahn, Hall, Levitt, Metcalfe (NBER w22627, 2016)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68680" y="2697480"/>
            <a:ext cx="5074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Own-price elasticity ε ≈ −0.5 to −1.0 → demand response in N06/N07</a:t>
            </a:r>
            <a:endParaRPr lang="en-US" sz="850" dirty="0"/>
          </a:p>
        </p:txBody>
      </p:sp>
      <p:sp>
        <p:nvSpPr>
          <p:cNvPr id="11" name="Text 9">
            <a:hlinkClick r:id="rId2" tooltip="https://www.nber.org/papers/w22627"/>
          </p:cNvPr>
          <p:cNvSpPr/>
          <p:nvPr/>
        </p:nvSpPr>
        <p:spPr>
          <a:xfrm>
            <a:off x="868680" y="310896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https://www.nber.org/papers/w22627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Price-Driving in Real-Time Ridesharing Markets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68680" y="3364992"/>
            <a:ext cx="5074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Hall, Kendrick, Nosko (Uber working paper, 2015)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68680" y="3566160"/>
            <a:ext cx="5074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supply 10-20% expansion under 2x surge → 50% capture in N07</a:t>
            </a:r>
            <a:endParaRPr lang="en-US" sz="850" dirty="0"/>
          </a:p>
        </p:txBody>
      </p:sp>
      <p:sp>
        <p:nvSpPr>
          <p:cNvPr id="14" name="Text 12">
            <a:hlinkClick r:id="rId3" tooltip="https://www.uber.com/blog/research/"/>
          </p:cNvPr>
          <p:cNvSpPr/>
          <p:nvPr/>
        </p:nvSpPr>
        <p:spPr>
          <a:xfrm>
            <a:off x="868680" y="397764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https://www.uber.com/blog/research/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Effect of Surge Pricing on Driver Supply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68680" y="4233672"/>
            <a:ext cx="5074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Chen, Sheldon (RAND Corp, 2016)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68680" y="4434840"/>
            <a:ext cx="5074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labor supply elasticity ~1.0 → forecastability framing</a:t>
            </a:r>
            <a:endParaRPr lang="en-US" sz="850" dirty="0"/>
          </a:p>
        </p:txBody>
      </p:sp>
      <p:sp>
        <p:nvSpPr>
          <p:cNvPr id="17" name="Text 15">
            <a:hlinkClick r:id="rId4" tooltip="https://ide.mit.edu/sites/default/files/publications/SSRN-id2997190.pdf"/>
          </p:cNvPr>
          <p:cNvSpPr/>
          <p:nvPr/>
        </p:nvSpPr>
        <p:spPr>
          <a:xfrm>
            <a:off x="868680" y="484632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https://ide.mit.edu/sites/default/files/publications/SSRN-id2997190.pdf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Substitution among Ride-Sharing Platforms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68680" y="5102352"/>
            <a:ext cx="5074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Lam, Liu (MIT IDE working paper, 2017)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68680" y="5303520"/>
            <a:ext cx="5074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 substitution methodology → per-shock η in N07b</a:t>
            </a:r>
            <a:endParaRPr lang="en-US" sz="850" dirty="0"/>
          </a:p>
        </p:txBody>
      </p:sp>
      <p:sp>
        <p:nvSpPr>
          <p:cNvPr id="20" name="Text 18">
            <a:hlinkClick r:id="rId5" tooltip="https://mitpress.mit.edu/9780262232586/"/>
          </p:cNvPr>
          <p:cNvSpPr/>
          <p:nvPr/>
        </p:nvSpPr>
        <p:spPr>
          <a:xfrm>
            <a:off x="868680" y="571500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invalidUrl="" action="" tgtFrame="" tooltip="https://mitpress.mit.edu/9780262232586/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Econometric Analysis of Cross-Section and Panel Data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68680" y="5971032"/>
            <a:ext cx="5074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Wooldridge (MIT Press, 2010)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68680" y="6172200"/>
            <a:ext cx="5074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collapse strategy justification (Ch. 14) → memory-safe DiD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217920" y="1783080"/>
            <a:ext cx="5394960" cy="4846320"/>
          </a:xfrm>
          <a:prstGeom prst="rect">
            <a:avLst/>
          </a:prstGeom>
          <a:solidFill>
            <a:srgbClr val="1F1F1F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17920" y="1783080"/>
            <a:ext cx="73152" cy="4846320"/>
          </a:xfrm>
          <a:prstGeom prst="rect">
            <a:avLst/>
          </a:prstGeom>
          <a:solidFill>
            <a:srgbClr val="06C167"/>
          </a:solidFill>
          <a:ln w="12700">
            <a:solidFill>
              <a:srgbClr val="06C16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0" y="18745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6C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 (PUBLIC)</a:t>
            </a:r>
            <a:endParaRPr lang="en-US" sz="1100" dirty="0"/>
          </a:p>
        </p:txBody>
      </p:sp>
      <p:sp>
        <p:nvSpPr>
          <p:cNvPr id="26" name="Text 24">
            <a:hlinkClick r:id="rId6" tooltip="https://www.nyc.gov/site/tlc/about/tlc-trip-record-data.page"/>
          </p:cNvPr>
          <p:cNvSpPr/>
          <p:nvPr/>
        </p:nvSpPr>
        <p:spPr>
          <a:xfrm>
            <a:off x="6446520" y="224028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invalidUrl="" action="" tgtFrame="" tooltip="https://www.nyc.gov/site/tlc/about/tlc-trip-record-data.page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TLC HVFHS Trip Records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46520" y="2496312"/>
            <a:ext cx="5074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NYC Taxi &amp; Limousine Commission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446520" y="2697480"/>
            <a:ext cx="5074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399M trips · 20 monthly parquets · zone-hour panel core</a:t>
            </a:r>
            <a:endParaRPr lang="en-US" sz="850" dirty="0"/>
          </a:p>
        </p:txBody>
      </p:sp>
      <p:sp>
        <p:nvSpPr>
          <p:cNvPr id="29" name="Text 27">
            <a:hlinkClick r:id="rId7" tooltip="https://www.nyc.gov/site/tlc/about/tlc-trip-record-data.page"/>
          </p:cNvPr>
          <p:cNvSpPr/>
          <p:nvPr/>
        </p:nvSpPr>
        <p:spPr>
          <a:xfrm>
            <a:off x="6446520" y="2953512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invalidUrl="" action="" tgtFrame="" tooltip="https://www.nyc.gov/site/tlc/about/tlc-trip-record-data.page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TLC Taxi Zones (shapefile)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46520" y="3209544"/>
            <a:ext cx="5074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NYC TLC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446520" y="3410712"/>
            <a:ext cx="5074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263 zones · CRZ classification · choropleth + zone joins</a:t>
            </a:r>
            <a:endParaRPr lang="en-US" sz="850" dirty="0"/>
          </a:p>
        </p:txBody>
      </p:sp>
      <p:sp>
        <p:nvSpPr>
          <p:cNvPr id="32" name="Text 30">
            <a:hlinkClick r:id="rId8" tooltip="https://data.ny.gov/Transportation/MTA-Subway-Hourly-Ridership/wujg-7c2s"/>
          </p:cNvPr>
          <p:cNvSpPr/>
          <p:nvPr/>
        </p:nvSpPr>
        <p:spPr>
          <a:xfrm>
            <a:off x="6446520" y="3666744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 invalidUrl="" action="" tgtFrame="" tooltip="https://data.ny.gov/Transportation/MTA-Subway-Hourly-Ridership/wujg-7c2s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MTA Subway Hourly Ridership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446520" y="3922776"/>
            <a:ext cx="5074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 MTA Open Data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446520" y="4123944"/>
            <a:ext cx="5074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62M raw rows → substitution analysis (N05)</a:t>
            </a:r>
            <a:endParaRPr lang="en-US" sz="850" dirty="0"/>
          </a:p>
        </p:txBody>
      </p:sp>
      <p:sp>
        <p:nvSpPr>
          <p:cNvPr id="35" name="Text 33">
            <a:hlinkClick r:id="rId9" tooltip="https://www.ncei.noaa.gov/data/local-climatological-data/"/>
          </p:cNvPr>
          <p:cNvSpPr/>
          <p:nvPr/>
        </p:nvSpPr>
        <p:spPr>
          <a:xfrm>
            <a:off x="6446520" y="4379976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invalidUrl="" action="" tgtFrame="" tooltip="https://www.ncei.noaa.gov/data/local-climatological-data/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NOAA Hourly Weather (ISD/LCD)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446520" y="4636008"/>
            <a:ext cx="5074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NOAA NCEI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446520" y="4837176"/>
            <a:ext cx="5074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FM-15 + FM-16 deduped → weather elasticity (N04)</a:t>
            </a:r>
            <a:endParaRPr lang="en-US" sz="850" dirty="0"/>
          </a:p>
        </p:txBody>
      </p:sp>
      <p:sp>
        <p:nvSpPr>
          <p:cNvPr id="38" name="Text 36">
            <a:hlinkClick r:id="rId10" tooltip="https://news.airbnb.com/fifa-world-cup-2026/"/>
          </p:cNvPr>
          <p:cNvSpPr/>
          <p:nvPr/>
        </p:nvSpPr>
        <p:spPr>
          <a:xfrm>
            <a:off x="6446520" y="5093208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 invalidUrl="" action="" tgtFrame="" tooltip="https://news.airbnb.com/fifa-world-cup-2026/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FIFA WC 2026 Travel Trends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446520" y="5349240"/>
            <a:ext cx="5074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Airbnb (May 2024 report)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446520" y="5550408"/>
            <a:ext cx="5074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visitor stay 10-16 nights → L4 multi-day multiplier (N08)</a:t>
            </a:r>
            <a:endParaRPr lang="en-US" sz="850" dirty="0"/>
          </a:p>
        </p:txBody>
      </p:sp>
      <p:sp>
        <p:nvSpPr>
          <p:cNvPr id="41" name="Text 39">
            <a:hlinkClick r:id="rId11" tooltip="https://www.nyctourism.com/research/"/>
          </p:cNvPr>
          <p:cNvSpPr/>
          <p:nvPr/>
        </p:nvSpPr>
        <p:spPr>
          <a:xfrm>
            <a:off x="6446520" y="580644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1" invalidUrl="" action="" tgtFrame="" tooltip="https://www.nyctourism.com/research/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NYC Visitor Profile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446520" y="6062472"/>
            <a:ext cx="5074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NYC &amp; Company (NYC Tourism + Conventions)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446520" y="6263640"/>
            <a:ext cx="5074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~55% Manhattan lodging share → L3 multiplier (N08)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640080" y="626364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sources accessed May 2026. Click any source title to follow link. Full code + notebooks + AI conversation log available on request.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365760" y="65379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Uber GPA Lead Case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251960" y="6537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Thomas Cooper  •  May 2026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0789920" y="653796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17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6C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 •  AI WORKFLOW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 used AI to accelerate this case — with awareness of its limitations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783080"/>
            <a:ext cx="5394960" cy="4297680"/>
          </a:xfrm>
          <a:prstGeom prst="rect">
            <a:avLst/>
          </a:prstGeom>
          <a:solidFill>
            <a:srgbClr val="1F1F1F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783080"/>
            <a:ext cx="73152" cy="4297680"/>
          </a:xfrm>
          <a:prstGeom prst="rect">
            <a:avLst/>
          </a:prstGeom>
          <a:solidFill>
            <a:srgbClr val="06C167"/>
          </a:solidFill>
          <a:ln w="12700">
            <a:solidFill>
              <a:srgbClr val="06C16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8745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6C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 USED CLAUDE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194560"/>
            <a:ext cx="51206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06C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development:  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iterated framing from "5 shocks" → "forecastable shocks with operational levers per shock" → final pricing-vs-supply head-to-head with academic anchors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06C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design:  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memory-safe panel collapse strategy (Wooldridge anchor), placebo test design, hour-level vs day-level event windows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06C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generation:  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 patches for ~12 notebooks; verified each output against expected ranges before accepting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06C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anchoring:  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web-search for Cohen 2016, Hall et al. 2015, Chen &amp; Sheldon 2016; Claude surfaced relevant papers I'd then read directly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06C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 construction:  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review on each slide for clarity, jargon, and consistency with results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1783080"/>
            <a:ext cx="5394960" cy="4297680"/>
          </a:xfrm>
          <a:prstGeom prst="rect">
            <a:avLst/>
          </a:prstGeom>
          <a:solidFill>
            <a:srgbClr val="1F1F1F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1783080"/>
            <a:ext cx="73152" cy="4297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18745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 PUSHED BACK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0" y="2194560"/>
            <a:ext cx="51206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Cup magnitude:  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initially gave $5M-$25M tournament estimate. I pushed for a derivation from public data → led to L1/L4 layered framing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capture fraction:  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originally hardcoded at 50%. I required literature anchoring → led to Hall et al. citation + 30/50/70 sensitivity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recommendation:  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proposed supply on "strategic fit" without quantification. I required analytical work (Path 3-lite) → led to flipping the recommendation to pricing once data was anchored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Pre-trends placebo:  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flagged the placebo failure; we discussed whether to bury or report → chose honest reporting as the academic standard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6172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b="1" spc="200" kern="0" dirty="0">
                <a:solidFill>
                  <a:srgbClr val="06C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LIMITATIONS RECOGNIZED:  </a:t>
            </a:r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proposed un-anchored estimates that needed verification against literature. Every analytical claim in this deck was traced back to data or cited research. Full conversation log submitted separately as case-prompt artifact.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65379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Uber GPA Lead Case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251960" y="6537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Thomas Cooper  •  May 2026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789920" y="653796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17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40080" y="2788920"/>
            <a:ext cx="731520" cy="45720"/>
          </a:xfrm>
          <a:prstGeom prst="rect">
            <a:avLst/>
          </a:prstGeom>
          <a:solidFill>
            <a:srgbClr val="06C167"/>
          </a:solidFill>
          <a:ln w="12700">
            <a:solidFill>
              <a:srgbClr val="06C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017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forecastable shocks. Per-shock lever recommendations. $5.6M NYC pricing capture (3 shocks). World Cup 2026 ready.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315200" y="4114800"/>
            <a:ext cx="4297680" cy="2103120"/>
          </a:xfrm>
          <a:prstGeom prst="rect">
            <a:avLst/>
          </a:prstGeom>
          <a:solidFill>
            <a:srgbClr val="1F1F1F"/>
          </a:solidFill>
          <a:ln w="25400">
            <a:solidFill>
              <a:srgbClr val="06C1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0" y="42519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6C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98080" y="46177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Thomas Cooper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498080" y="5029200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Quant Modeling Analyst, UBS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MBA + MA Economics, Binghamton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Fellow, Primary Ventures Factor Program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425196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6C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(BACKUP)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4572000"/>
            <a:ext cx="59436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Methodology details (panel collapse, Wooldridge 2010)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Competitive penalty literature (Cohen 2016, Lam &amp; Liu 2017)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Comparable events benchmarking + AI workflow notes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AI conversation log submitted separately per case ask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Lyft first-differences robustness + political N=6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Full per-shock numbers + sensitivity tables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6537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Uber GPA Lead Case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Pricing the Predictable — Uber GPA Lead Case Study</dc:title>
  <dc:subject>Forecastable Demand Shocks Framework</dc:subject>
  <dc:creator>Thomas Cooper</dc:creator>
  <cp:lastModifiedBy>Thomas Cooper</cp:lastModifiedBy>
  <cp:revision>1</cp:revision>
  <dcterms:created xsi:type="dcterms:W3CDTF">2026-05-11T08:09:06Z</dcterms:created>
  <dcterms:modified xsi:type="dcterms:W3CDTF">2026-05-11T08:09:06Z</dcterms:modified>
</cp:coreProperties>
</file>