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2" name="Google Shape;44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1" name="Google Shape;52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tcooper4.github.io/UBER/deck/Cooper_Uber_Strategy_Explorer.html" TargetMode="External"/><Relationship Id="rId4" Type="http://schemas.openxmlformats.org/officeDocument/2006/relationships/hyperlink" Target="https://tcooper4.github.io/UBER/deck/Cooper_Uber_Strategy_Explorer.html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20" Type="http://schemas.openxmlformats.org/officeDocument/2006/relationships/hyperlink" Target="https://www.ncei.noaa.gov/data/local-climatological-data/" TargetMode="External"/><Relationship Id="rId11" Type="http://schemas.openxmlformats.org/officeDocument/2006/relationships/hyperlink" Target="https://mitpress.mit.edu/9780262232586/" TargetMode="External"/><Relationship Id="rId22" Type="http://schemas.openxmlformats.org/officeDocument/2006/relationships/hyperlink" Target="https://news.airbnb.com/fifa-world-cup-2026/" TargetMode="External"/><Relationship Id="rId10" Type="http://schemas.openxmlformats.org/officeDocument/2006/relationships/hyperlink" Target="https://ide.mit.edu/sites/default/files/publications/SSRN-id2997190.pdf" TargetMode="External"/><Relationship Id="rId21" Type="http://schemas.openxmlformats.org/officeDocument/2006/relationships/hyperlink" Target="https://news.airbnb.com/fifa-world-cup-2026/" TargetMode="External"/><Relationship Id="rId13" Type="http://schemas.openxmlformats.org/officeDocument/2006/relationships/hyperlink" Target="https://www.nyc.gov/site/tlc/about/tlc-trip-record-data.page" TargetMode="External"/><Relationship Id="rId24" Type="http://schemas.openxmlformats.org/officeDocument/2006/relationships/hyperlink" Target="https://www.nyctourism.com/research/" TargetMode="External"/><Relationship Id="rId12" Type="http://schemas.openxmlformats.org/officeDocument/2006/relationships/hyperlink" Target="https://mitpress.mit.edu/9780262232586/" TargetMode="External"/><Relationship Id="rId23" Type="http://schemas.openxmlformats.org/officeDocument/2006/relationships/hyperlink" Target="https://www.nyctourism.com/research/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nber.org/papers/w22627" TargetMode="External"/><Relationship Id="rId4" Type="http://schemas.openxmlformats.org/officeDocument/2006/relationships/hyperlink" Target="https://www.nber.org/papers/w22627" TargetMode="External"/><Relationship Id="rId9" Type="http://schemas.openxmlformats.org/officeDocument/2006/relationships/hyperlink" Target="https://ide.mit.edu/sites/default/files/publications/SSRN-id2997190.pdf" TargetMode="External"/><Relationship Id="rId15" Type="http://schemas.openxmlformats.org/officeDocument/2006/relationships/hyperlink" Target="https://www.nyc.gov/site/tlc/about/tlc-trip-record-data.page" TargetMode="External"/><Relationship Id="rId14" Type="http://schemas.openxmlformats.org/officeDocument/2006/relationships/hyperlink" Target="https://www.nyc.gov/site/tlc/about/tlc-trip-record-data.page" TargetMode="External"/><Relationship Id="rId17" Type="http://schemas.openxmlformats.org/officeDocument/2006/relationships/hyperlink" Target="https://data.ny.gov/Transportation/MTA-Subway-Hourly-Ridership/wujg-7c2s" TargetMode="External"/><Relationship Id="rId16" Type="http://schemas.openxmlformats.org/officeDocument/2006/relationships/hyperlink" Target="https://www.nyc.gov/site/tlc/about/tlc-trip-record-data.page" TargetMode="External"/><Relationship Id="rId5" Type="http://schemas.openxmlformats.org/officeDocument/2006/relationships/hyperlink" Target="https://www.nber.org/papers/w22627" TargetMode="External"/><Relationship Id="rId19" Type="http://schemas.openxmlformats.org/officeDocument/2006/relationships/hyperlink" Target="https://www.ncei.noaa.gov/data/local-climatological-data/" TargetMode="External"/><Relationship Id="rId6" Type="http://schemas.openxmlformats.org/officeDocument/2006/relationships/hyperlink" Target="https://www.nber.org/papers/w22627" TargetMode="External"/><Relationship Id="rId18" Type="http://schemas.openxmlformats.org/officeDocument/2006/relationships/hyperlink" Target="https://data.ny.gov/Transportation/MTA-Subway-Hourly-Ridership/wujg-7c2s" TargetMode="External"/><Relationship Id="rId7" Type="http://schemas.openxmlformats.org/officeDocument/2006/relationships/hyperlink" Target="https://www.uber.com/blog/research/" TargetMode="External"/><Relationship Id="rId8" Type="http://schemas.openxmlformats.org/officeDocument/2006/relationships/hyperlink" Target="https://www.uber.com/blog/research/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40080" y="11887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UBER GPA LEAD L3/4  •  CASE STUDY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Arial"/>
              <a:buNone/>
            </a:pPr>
            <a:r>
              <a:rPr b="1" lang="en-US" sz="6000">
                <a:solidFill>
                  <a:srgbClr val="FFFFFF"/>
                </a:solidFill>
              </a:rPr>
              <a:t>Optimizing P</a:t>
            </a:r>
            <a:r>
              <a:rPr b="1" i="0" lang="en-US" sz="6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redictable Events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2200"/>
              <a:buFont typeface="Calibri"/>
              <a:buNone/>
            </a:pPr>
            <a:r>
              <a:rPr b="0" i="1" lang="en-US" sz="22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 framework for capturing forecastable demand shocks in rideshare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3520440"/>
            <a:ext cx="731520" cy="4572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640080" y="40233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399M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0080" y="4526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Trips analyzed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108960" y="40233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761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3108960" y="4526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Events catalogued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5577840" y="40233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5577840" y="45262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Public datasets fused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8046720" y="40233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$5.6M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8046720" y="452628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pricing capture (3 pricing-relevant shocks)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" name="Google Shape;28;p3"/>
          <p:cNvCxnSpPr/>
          <p:nvPr/>
        </p:nvCxnSpPr>
        <p:spPr>
          <a:xfrm>
            <a:off x="640080" y="5852160"/>
            <a:ext cx="1097280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Presented by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Thomas Cooper</a:t>
            </a: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•  </a:t>
            </a:r>
            <a:r>
              <a:rPr b="0" i="0" lang="en-US" sz="12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May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CONTENTS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we'll cover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" name="Google Shape;37;p4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4"/>
          <p:cNvSpPr/>
          <p:nvPr/>
        </p:nvSpPr>
        <p:spPr>
          <a:xfrm>
            <a:off x="640080" y="182880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777240" y="196596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554480" y="192024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problem &amp; hypothesis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412480" y="19202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What's the question, why it matters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640080" y="260604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777240" y="274320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554480" y="269748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foundation &amp; methodology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8412480" y="2697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9 datasets, 20 months, the framework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0080" y="338328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777240" y="352044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554480" y="347472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Five forecastable shocks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8412480" y="34747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Events · Weather · Substitution · CP · Politics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40080" y="416052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777240" y="429768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1554480" y="425196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Sized opportunity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412480" y="42519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Pricing vs supply counterfactuals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640080" y="493776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777240" y="507492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1554480" y="502920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Recommendation &amp; World Cup application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412480" y="5029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MetLife 2026 forward case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40080" y="5715000"/>
            <a:ext cx="10972800" cy="6858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777240" y="5852160"/>
            <a:ext cx="640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1554480" y="5806440"/>
            <a:ext cx="6858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Risks, caveats, what I'd do next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8412480" y="58064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Honest scoping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01  •  THE BUSINESS PROBLEM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Forecastable shocks are visible in public data — and rideshare under-monetizes them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" name="Google Shape;72;p5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5"/>
          <p:cNvSpPr/>
          <p:nvPr/>
        </p:nvSpPr>
        <p:spPr>
          <a:xfrm>
            <a:off x="640080" y="1783080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"How could Uber make money from publicly available data?"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40080" y="237744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case asks where public-data analysis can change how Uber operates. Most obvious answer: marketing spend, growth. Less obvious — and more interesting — answer: </a:t>
            </a:r>
            <a:r>
              <a:rPr b="1" i="0" lang="en-US" sz="14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operational shocks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40080" y="352044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Demand shocks come in five forecastable categories that public data already exposes. Each has a different operational profile — and a different right answer.</a:t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7498080" y="1783080"/>
            <a:ext cx="4114800" cy="4114800"/>
          </a:xfrm>
          <a:prstGeom prst="rect">
            <a:avLst/>
          </a:prstGeom>
          <a:solidFill>
            <a:srgbClr val="1F1F1F"/>
          </a:solidFill>
          <a:ln cap="flat" cmpd="sng" w="254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7680960" y="192024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WHY IT MATTERS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7680960" y="233172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~$5.6M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7680960" y="2697480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pricing capture (NJ pregame + heavy rain + sports); storm gets supply withdrawal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7680960" y="324612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 matches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7680960" y="3611880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World Cup at MetLife 2026 — direct forward application of NJ-venue framework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7680960" y="416052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categories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7680960" y="4526280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Events, weather, substitution, congestion pricing, political — all in public 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7680960" y="507492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levers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7680960" y="5440680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Pricing vs supply optimization — analyzed head-to-head per shock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640080" y="4638879"/>
            <a:ext cx="6400800" cy="109740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777240" y="4730319"/>
            <a:ext cx="6126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HYPOTHESIS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777240" y="5004639"/>
            <a:ext cx="6126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 hypothesis is that rideshares under-optimizes for forecastable shocks. Forecastable demand shocks have predictable optimal responses and pricing or supply adjustments are scenario specific.</a:t>
            </a:r>
            <a:endParaRPr i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t/>
            </a:r>
            <a:endParaRPr i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02  •  DATA FOUNDATION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Nine public datasets fused into a 7.2M-row zone-hour panel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6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6"/>
          <p:cNvSpPr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9 PUBLIC DATA SOURCES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777240" y="201168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TLC HVFHS Trip Records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777240" y="224028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20 monthly parquets · 399.4M trips · Uber 295M / Lyft 105M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777240" y="248716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TLC Taxi Zones (shapefile)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777240" y="271576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263 zones · EPSG:2263 · Congestion Relief Zone (CRZ) classification (36 zones)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777240" y="296265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MTA Subway Hourly Ridership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777240" y="319125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62M raw rows · 462 stations · zone-mapped via station coords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777240" y="3438144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NOAA Hourly Weather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777240" y="366674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FM-15 + FM-16 deduped · 43K obs · 3 stations zone-mapped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777240" y="3913632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NOAA Storm Events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777240" y="414223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91 NYC events · 9 storm categories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777240" y="438912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Major Events Catalog (custom)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777240" y="46177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761 events: 741 sports + 6 political + 14 civic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777240" y="4864608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NYC SAPO Permits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77240" y="50932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8.5M raw → 60K events deduped (borough-level)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77240" y="534009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NYC TLC Congestion Pricing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777240" y="556869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Treatment date Jan 5, 2025 · CRZ vs non-CRZ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777240" y="5815584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Federal + NYC holiday calendar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777240" y="60441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23 dates with same-DOW-non-holiday baseline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675120" y="169164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MASTER ANALYSIS TABLE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6675120" y="205740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6675120" y="205740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6858000" y="219456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7.2M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6858000" y="266090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zone-hour rows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9235440" y="205740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9235440" y="205740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9418320" y="219456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20 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418320" y="266090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Jan 24 – Aug 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6675120" y="315468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6675120" y="315468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6858000" y="329184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6858000" y="375818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TLC zones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235440" y="315468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9235440" y="315468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9418320" y="329184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14,616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418320" y="375818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unique hours in time range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675120" y="425196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6675120" y="425196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6858000" y="438912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6858000" y="485546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columns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9235440" y="4251960"/>
            <a:ext cx="2377440" cy="10058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9235440" y="4251960"/>
            <a:ext cx="73152" cy="100584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9418320" y="4389120"/>
            <a:ext cx="210312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$4.97/mi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9418320" y="4855464"/>
            <a:ext cx="210312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avg fare-per-mile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6675120" y="5440680"/>
            <a:ext cx="4937760" cy="109728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6812280" y="5532120"/>
            <a:ext cx="4663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KEY METHODOLOGY DECISIONS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6812280" y="5779008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Ratio-of-sums fare-per-mile (after stripping CBD fees)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Hour-level event windows (sym ±3hr / asym -2/+4hr)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NJ-venue events flagged on Manhattan departure zones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02  •  METHODOLOGY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</a:rPr>
              <a:t>My framework consistent of Five shock categories × two operational counterfactuals</a:t>
            </a:r>
            <a:endParaRPr b="1" sz="2800">
              <a:solidFill>
                <a:srgbClr val="FFFFF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t/>
            </a:r>
            <a:endParaRPr b="1" sz="2800">
              <a:solidFill>
                <a:srgbClr val="FFFFFF"/>
              </a:solidFill>
            </a:endParaRPr>
          </a:p>
        </p:txBody>
      </p:sp>
      <p:cxnSp>
        <p:nvCxnSpPr>
          <p:cNvPr id="157" name="Google Shape;157;p7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7"/>
          <p:cNvSpPr/>
          <p:nvPr/>
        </p:nvSpPr>
        <p:spPr>
          <a:xfrm>
            <a:off x="640080" y="1828800"/>
            <a:ext cx="2194560" cy="14630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0080" y="1828800"/>
            <a:ext cx="219456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77240" y="1965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777240" y="237744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77240" y="269748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Sports + civic + parades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2898648" y="1828800"/>
            <a:ext cx="2194560" cy="14630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2898648" y="1828800"/>
            <a:ext cx="219456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3035808" y="1965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3035808" y="237744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WEATHER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035808" y="269748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Rain + temp + storms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5157216" y="1828800"/>
            <a:ext cx="2194560" cy="14630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5157216" y="1828800"/>
            <a:ext cx="219456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5294376" y="1965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5294376" y="237744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TRANSIT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5294376" y="269748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Subway substitution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7415784" y="1828800"/>
            <a:ext cx="2194560" cy="14630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7415784" y="1828800"/>
            <a:ext cx="219456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7552944" y="1965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7552944" y="237744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POLICY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7552944" y="269748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Congestion pricing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9674352" y="1828800"/>
            <a:ext cx="2194560" cy="14630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9674352" y="1828800"/>
            <a:ext cx="219456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9811512" y="19659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9811512" y="237744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POLITICAL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9811512" y="269748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UN GA + elections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640080" y="35204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Per-shock analysis →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1097280" y="3931920"/>
            <a:ext cx="5029200" cy="22860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1097280" y="3931920"/>
            <a:ext cx="73152" cy="2286000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1280160" y="406908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COUNTERFACTUAL A — PRICING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1280160" y="434340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Optimize fare-per-mile during shocks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1280160" y="4754880"/>
            <a:ext cx="47548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Raise prices to clear excess demand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Capture: ΔP × Q (after demand response adjustment)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Highest dollar capture per shock event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Considerations: regulatory environment, competitive response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Effectiveness varies by shock type (see slide 10)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6400800" y="3931920"/>
            <a:ext cx="73152" cy="228600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6583680" y="406908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COUNTERFACTUAL B — SUPPLY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6583680" y="434340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Pre-position drivers ahead of shocks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583680" y="4754880"/>
            <a:ext cx="47548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Drivers staged before predictable demand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Capture: extra trips × base fare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Lower headline $ but operational (no surcharge)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Defensible across all shock types uniformly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Builds long-term supply infrastructure (franchise value)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03  •  EXPLORATORY ANALYSIS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Volume drops at Jan 5, 2025 d</a:t>
            </a:r>
            <a:r>
              <a:rPr b="1" lang="en-US" sz="2800">
                <a:solidFill>
                  <a:srgbClr val="FFFFFF"/>
                </a:solidFill>
              </a:rPr>
              <a:t>ue to congestion pricing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standard NYC patterns confirm data integrity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" name="Google Shape;204;p8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5" name="Google Shape;205;p8"/>
          <p:cNvSpPr/>
          <p:nvPr/>
        </p:nvSpPr>
        <p:spPr>
          <a:xfrm>
            <a:off x="640080" y="1783080"/>
            <a:ext cx="7315200" cy="4114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01_daily_volume_combined.png" id="206" name="Google Shape;20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28800"/>
            <a:ext cx="7223760" cy="379476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8"/>
          <p:cNvSpPr/>
          <p:nvPr/>
        </p:nvSpPr>
        <p:spPr>
          <a:xfrm>
            <a:off x="731520" y="5623560"/>
            <a:ext cx="7132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N01 daily volume combined | Jan 2024 – Aug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8229600" y="178308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KEY </a:t>
            </a:r>
            <a:r>
              <a:rPr b="1" lang="en-US" sz="1100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EXPLORATORY DATA </a:t>
            </a: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FINDINGS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8229600" y="2148840"/>
            <a:ext cx="338328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8321040" y="222199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8686800" y="2221992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Volume drops at Jan 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8686800" y="25146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Pre-CP daily mean ~680K trips; post-CP ~640K. Clean DiD signal but pre-trends matter (slide 9).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8229600" y="3118104"/>
            <a:ext cx="338328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8321040" y="319125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8686800" y="3191256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Fare-per-mile DROPPED post-CP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686800" y="348386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After stripping toll passthrough, underlying surge softened. Reframe: 'volume crashed, fare held.'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8229600" y="4087368"/>
            <a:ext cx="338328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321040" y="416052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8686800" y="4160600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Hour</a:t>
            </a: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ly volume 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profile = </a:t>
            </a: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expected 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NYC commuting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8686800" y="445312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8am + 6pm peaks confirmed across both platforms. Sanity check passed.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8229600" y="5056632"/>
            <a:ext cx="338328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8321040" y="512978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8686800" y="5129784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Lyft non-stationary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8686800" y="542239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Stationarity test fails for Lyft (p=0.18) but passes for Uber (p=0.002). Mitigated via panel fixed-effects + first-differences.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Confirms data quality before causal analysis. Hour-of-day, DoW heatmap, choropleth, and STL decomposition in appendix.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FINDING 1  •  EVENTS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Sports lift trips ~4–6%, but parades CRUSH demand (-30% to -97%)</a:t>
            </a:r>
            <a:r>
              <a:rPr b="1" lang="en-US" sz="2800">
                <a:solidFill>
                  <a:srgbClr val="FFFFFF"/>
                </a:solidFill>
              </a:rPr>
              <a:t>. This is an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operational blockers, not pricing shocks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6" name="Google Shape;236;p9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7" name="Google Shape;237;p9"/>
          <p:cNvSpPr/>
          <p:nvPr/>
        </p:nvSpPr>
        <p:spPr>
          <a:xfrm>
            <a:off x="640080" y="1783080"/>
            <a:ext cx="6400800" cy="4206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02_nyc_sports_lift_distribution.png" id="238" name="Google Shape;2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28800"/>
            <a:ext cx="630936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9"/>
          <p:cNvSpPr/>
          <p:nvPr/>
        </p:nvSpPr>
        <p:spPr>
          <a:xfrm>
            <a:off x="731520" y="5715000"/>
            <a:ext cx="6217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N02 NYC sports per-event distribution | N=4,340 event-hours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7269480" y="1783080"/>
            <a:ext cx="434340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269480" y="1783080"/>
            <a:ext cx="73152" cy="91440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7452360" y="192024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+4.1%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452360" y="2331720"/>
            <a:ext cx="4069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sports median lift (per-event)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7269480" y="2788920"/>
            <a:ext cx="434340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269480" y="2788920"/>
            <a:ext cx="73152" cy="91440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7452360" y="292608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+5.7%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7452360" y="3337560"/>
            <a:ext cx="4069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NJ pre-game lift (Manhattan dep. zones)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7269480" y="3794760"/>
            <a:ext cx="4343400" cy="9144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7269480" y="3794760"/>
            <a:ext cx="73152" cy="914400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EF444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7452360" y="393192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−97%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7452360" y="4343400"/>
            <a:ext cx="4069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NYE Ball Drop, Times Sq (operational blocker)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7269480" y="4800600"/>
            <a:ext cx="4343400" cy="1280160"/>
          </a:xfrm>
          <a:prstGeom prst="rect">
            <a:avLst/>
          </a:prstGeom>
          <a:solidFill>
            <a:srgbClr val="151515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7406640" y="489204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THE REFRAME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7406640" y="5166360"/>
            <a:ext cx="4114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Civic event negatives aren't 'no demand' — they're physical access blocked by street closures. Different operational lever entirely (reroute + comms vs surge).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Methodology: </a:t>
            </a: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hour-level event windows (sym ±3hr); collapse-first matched (zone, hour-of-week) baseline; paired one-sample t-test on (event − baseline) differences. </a:t>
            </a: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 = 4,083 NYC sports event-hours, 14 civic events. NYE is the most extreme; civic events MEDIAN lift = −30.6%.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FINDING 2 + 3  •  WEATHER &amp; SUBSTITUTION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Heavy rain pushes riders TO rideshare (+4.4%); subway does NOT substitute for rideshare — modes </a:t>
            </a:r>
            <a:r>
              <a:rPr b="1" lang="en-US" sz="2800">
                <a:solidFill>
                  <a:srgbClr val="FFFFFF"/>
                </a:solidFill>
              </a:rPr>
              <a:t>move together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6" name="Google Shape;266;p10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0"/>
          <p:cNvSpPr/>
          <p:nvPr/>
        </p:nvSpPr>
        <p:spPr>
          <a:xfrm>
            <a:off x="640080" y="17830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WEATHER ELASTICITY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640080" y="2103120"/>
            <a:ext cx="5486400" cy="3474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04_weather_forest.png" id="269" name="Google Shape;26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148840"/>
            <a:ext cx="5394960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0"/>
          <p:cNvSpPr/>
          <p:nvPr/>
        </p:nvSpPr>
        <p:spPr>
          <a:xfrm>
            <a:off x="731520" y="5303520"/>
            <a:ext cx="5303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N04 weather coefficient forest plot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640080" y="5669280"/>
            <a:ext cx="5486400" cy="7772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777240" y="5760720"/>
            <a:ext cx="5212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+0.5%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light  </a:t>
            </a:r>
            <a:r>
              <a:rPr b="1" i="0" lang="en-US" sz="13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+2.2%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moderate  </a:t>
            </a:r>
            <a:r>
              <a:rPr b="1" i="0" lang="en-US" sz="13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+4.4%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heavy  </a:t>
            </a:r>
            <a:r>
              <a:rPr b="1" i="0" lang="en-US" sz="13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−1.9%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storm warn.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/>
          <p:nvPr/>
        </p:nvSpPr>
        <p:spPr>
          <a:xfrm>
            <a:off x="6400800" y="1783080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CROSS-MODAL SUBSTITUTION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6400800" y="2103120"/>
            <a:ext cx="5212080" cy="3474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05_substitution_scatter.png" id="275" name="Google Shape;27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6520" y="2148840"/>
            <a:ext cx="5120640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0"/>
          <p:cNvSpPr/>
          <p:nvPr/>
        </p:nvSpPr>
        <p:spPr>
          <a:xfrm>
            <a:off x="6492240" y="530352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N05 substitution hexbin pre/post-CP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6400800" y="5669280"/>
            <a:ext cx="5212080" cy="7772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0"/>
          <p:cNvSpPr/>
          <p:nvPr/>
        </p:nvSpPr>
        <p:spPr>
          <a:xfrm>
            <a:off x="6537960" y="5760720"/>
            <a:ext cx="4937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β=+0.23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modes move TOGETHER  </a:t>
            </a:r>
            <a:r>
              <a:rPr b="1" i="0" lang="en-US" sz="13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β=+0.13 </a:t>
            </a: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decouple in heavy rain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FINDING 4  •  CONGESTION PRICING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b="1" lang="en-US" sz="2800">
                <a:solidFill>
                  <a:schemeClr val="lt1"/>
                </a:solidFill>
              </a:rPr>
              <a:t>Naively viewing difference-in-differences (DiD) says −11% volume due to congestion pricing but true effect is ~0–4%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t/>
            </a:r>
            <a:endParaRPr b="1" sz="2800">
              <a:solidFill>
                <a:srgbClr val="FFFFFF"/>
              </a:solidFill>
            </a:endParaRPr>
          </a:p>
        </p:txBody>
      </p:sp>
      <p:cxnSp>
        <p:nvCxnSpPr>
          <p:cNvPr id="289" name="Google Shape;289;p11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0" name="Google Shape;290;p11"/>
          <p:cNvSpPr/>
          <p:nvPr/>
        </p:nvSpPr>
        <p:spPr>
          <a:xfrm>
            <a:off x="640080" y="1783080"/>
            <a:ext cx="68580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03_event_study_plot.png" id="291" name="Google Shape;2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28800"/>
            <a:ext cx="676656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1"/>
          <p:cNvSpPr/>
          <p:nvPr/>
        </p:nvSpPr>
        <p:spPr>
          <a:xfrm>
            <a:off x="731520" y="4800600"/>
            <a:ext cx="6675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N03 weekly + daily event-study coefficients with 95% CIs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640080" y="5212080"/>
            <a:ext cx="6858000" cy="96012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777240" y="5285232"/>
            <a:ext cx="6583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WHAT IS A PLACEBO TEST?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77240" y="5532120"/>
            <a:ext cx="6583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placebo runs the same DiD specification on FAKE treatment dates BEFORE the real Jan 5 2025 cutoff. If congestion pricing is the cause of the −11% gap, placebos should return ~0% effects. They don't — all four return significant negatives, meaning CRZ vs non-CRZ trends were already diverging before CP went live.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7772400" y="1783080"/>
            <a:ext cx="3840480" cy="4206240"/>
          </a:xfrm>
          <a:prstGeom prst="rect">
            <a:avLst/>
          </a:prstGeom>
          <a:solidFill>
            <a:srgbClr val="1F1F1F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"/>
          <p:cNvSpPr/>
          <p:nvPr/>
        </p:nvSpPr>
        <p:spPr>
          <a:xfrm>
            <a:off x="7909560" y="1874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WHAT THE PLACEBO REVEALED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7909560" y="21945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All 4 placebo dates pre-Jan 5 show significant negative β: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7909560" y="2606040"/>
            <a:ext cx="3657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Jun 2024  </a:t>
            </a:r>
            <a:r>
              <a:rPr b="0" i="0" lang="en-US" sz="12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β=−0.080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Sep 2024  </a:t>
            </a:r>
            <a:r>
              <a:rPr b="0" i="0" lang="en-US" sz="12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β=−0.058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Nov 2024  </a:t>
            </a:r>
            <a:r>
              <a:rPr b="0" i="0" lang="en-US" sz="12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β=−0.096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Dec 2024  </a:t>
            </a:r>
            <a:r>
              <a:rPr b="0" i="0" lang="en-US" sz="12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β=−0.126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0" name="Google Shape;300;p11"/>
          <p:cNvCxnSpPr/>
          <p:nvPr/>
        </p:nvCxnSpPr>
        <p:spPr>
          <a:xfrm>
            <a:off x="7909560" y="3931920"/>
            <a:ext cx="35204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1" name="Google Shape;301;p11"/>
          <p:cNvSpPr/>
          <p:nvPr/>
        </p:nvSpPr>
        <p:spPr>
          <a:xfrm>
            <a:off x="7909560" y="40690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HONEST INTERPRETATION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7909560" y="4343400"/>
            <a:ext cx="3657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CRZ–non-CRZ trends were already diverging pre-CP. Naive DiD overstates by ~7-10pp. After adjusting for pre-trend, true causal effect is closer to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7909560" y="516636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0–4%, not 11%.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7909560" y="55321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Robustness check (excluding ±2 weeks around Jan 5) confirms the pattern persists.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1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04  •  STRATEGY MATRIX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Per-shock recommendation: </a:t>
            </a:r>
            <a:r>
              <a:rPr b="1" lang="en-US" sz="2800">
                <a:solidFill>
                  <a:srgbClr val="FFFFFF"/>
                </a:solidFill>
              </a:rPr>
              <a:t>pricing optimization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wins for sports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NJ pregame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+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heavy rain; but supply </a:t>
            </a:r>
            <a:r>
              <a:rPr b="1" lang="en-US" sz="2800">
                <a:solidFill>
                  <a:srgbClr val="FFFFFF"/>
                </a:solidFill>
              </a:rPr>
              <a:t>optimization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storms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5" name="Google Shape;315;p12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6" name="Google Shape;316;p12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2"/>
          <p:cNvSpPr/>
          <p:nvPr/>
        </p:nvSpPr>
        <p:spPr>
          <a:xfrm>
            <a:off x="731520" y="187452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SHOCK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2926080" y="1874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PRICING NET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4937760" y="1874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SUPPLY (CENTRAL)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6949440" y="18745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MARGIN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8778240" y="1874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RECOMMENDATION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640080" y="2286000"/>
            <a:ext cx="10972800" cy="544068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"/>
          <p:cNvSpPr/>
          <p:nvPr/>
        </p:nvSpPr>
        <p:spPr>
          <a:xfrm>
            <a:off x="731520" y="2331720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NYC sports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2926080" y="2331720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$0.77M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4937760" y="2331720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$0.75M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6949440" y="2331720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1.02×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8778240" y="2331720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Pricing (tie)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640080" y="2830068"/>
            <a:ext cx="10972800" cy="544068"/>
          </a:xfrm>
          <a:prstGeom prst="rect">
            <a:avLst/>
          </a:prstGeom>
          <a:solidFill>
            <a:srgbClr val="0A0A0A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/>
          <p:nvPr/>
        </p:nvSpPr>
        <p:spPr>
          <a:xfrm>
            <a:off x="731520" y="2875788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NJ pregame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2926080" y="2875788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$1.86M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4937760" y="2875788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$1.00M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6949440" y="2875788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1.86×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8778240" y="2875788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Pricing dominant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640080" y="3374136"/>
            <a:ext cx="10972800" cy="544068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2"/>
          <p:cNvSpPr/>
          <p:nvPr/>
        </p:nvSpPr>
        <p:spPr>
          <a:xfrm>
            <a:off x="731520" y="3419856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Heavy rain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2926080" y="3419856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$2.95M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4937760" y="3419856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$1.74M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6949440" y="3419856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1.69×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8778240" y="3419856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Pricing dominant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640080" y="3918204"/>
            <a:ext cx="10972800" cy="544068"/>
          </a:xfrm>
          <a:prstGeom prst="rect">
            <a:avLst/>
          </a:prstGeom>
          <a:solidFill>
            <a:srgbClr val="0A0A0A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2"/>
          <p:cNvSpPr/>
          <p:nvPr/>
        </p:nvSpPr>
        <p:spPr>
          <a:xfrm>
            <a:off x="731520" y="3963924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Storm active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2926080" y="3963924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$0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2"/>
          <p:cNvSpPr/>
          <p:nvPr/>
        </p:nvSpPr>
        <p:spPr>
          <a:xfrm>
            <a:off x="4937760" y="3963924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$2.99M*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/>
          <p:nvPr/>
        </p:nvSpPr>
        <p:spPr>
          <a:xfrm>
            <a:off x="6949440" y="3963924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N/A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8778240" y="3963924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Withdraw drivers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640080" y="4462272"/>
            <a:ext cx="10972800" cy="544068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2"/>
          <p:cNvSpPr/>
          <p:nvPr/>
        </p:nvSpPr>
        <p:spPr>
          <a:xfrm>
            <a:off x="731520" y="4507992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Civic events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2"/>
          <p:cNvSpPr/>
          <p:nvPr/>
        </p:nvSpPr>
        <p:spPr>
          <a:xfrm>
            <a:off x="2926080" y="4507992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4937760" y="4507992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6949440" y="4507992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N/A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8778240" y="4507992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Operational (reroute)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640080" y="5006340"/>
            <a:ext cx="10972800" cy="544068"/>
          </a:xfrm>
          <a:prstGeom prst="rect">
            <a:avLst/>
          </a:prstGeom>
          <a:solidFill>
            <a:srgbClr val="0A0A0A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2"/>
          <p:cNvSpPr/>
          <p:nvPr/>
        </p:nvSpPr>
        <p:spPr>
          <a:xfrm>
            <a:off x="731520" y="5052060"/>
            <a:ext cx="201168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Political (N=6)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2926080" y="5052060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4937760" y="5052060"/>
            <a:ext cx="18288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/>
          <p:nvPr/>
        </p:nvSpPr>
        <p:spPr>
          <a:xfrm>
            <a:off x="6949440" y="5052060"/>
            <a:ext cx="164592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N/A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8778240" y="5052060"/>
            <a:ext cx="2743200" cy="4526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Deferred (exploratory)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640080" y="5532120"/>
            <a:ext cx="10972800" cy="1005840"/>
          </a:xfrm>
          <a:prstGeom prst="rect">
            <a:avLst/>
          </a:prstGeom>
          <a:solidFill>
            <a:srgbClr val="1F1F1F"/>
          </a:solidFill>
          <a:ln cap="flat" cmpd="sng" w="254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2"/>
          <p:cNvSpPr/>
          <p:nvPr/>
        </p:nvSpPr>
        <p:spPr>
          <a:xfrm>
            <a:off x="777240" y="562356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RECOMMENDATION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/>
          <p:nvPr/>
        </p:nvSpPr>
        <p:spPr>
          <a:xfrm>
            <a:off x="777240" y="589788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Apply pricing to NJ pregame + heavy rain ($4.8M combined). Pricing-leaning tie on sports ($0.77M, judgment call). Storms: WITHDRAW drivers — demand is falling, no pricing opportunity exists. Civic + political events use operational levers (rerouting, comms), not pricing or supply.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* Supply $2.99M for storms assumes drivers stay on the road; honest read is the optimal action is withdrawal to avoid waste.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10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04  •  METHODOLOGY RIGOR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</a:rPr>
              <a:t>Since Uber doesn’t capture the entire market we see competitor lift in same scenarios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1" name="Google Shape;371;p13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2" name="Google Shape;372;p13"/>
          <p:cNvSpPr/>
          <p:nvPr/>
        </p:nvSpPr>
        <p:spPr>
          <a:xfrm>
            <a:off x="640080" y="1783080"/>
            <a:ext cx="6400800" cy="45720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3"/>
          <p:cNvSpPr/>
          <p:nvPr/>
        </p:nvSpPr>
        <p:spPr>
          <a:xfrm>
            <a:off x="777240" y="187452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SHOCK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2377440" y="1874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UBER LIFT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3611880" y="1874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LYFT LIFT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846320" y="1874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OBSERVED η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6035040" y="1874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RANGE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640080" y="2286000"/>
            <a:ext cx="6400800" cy="5029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3"/>
          <p:cNvSpPr/>
          <p:nvPr/>
        </p:nvSpPr>
        <p:spPr>
          <a:xfrm>
            <a:off x="777240" y="233172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Sports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2377440" y="233172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+4.4%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3611880" y="233172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+8.1%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846320" y="233172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onsolas"/>
                <a:ea typeface="Consolas"/>
                <a:cs typeface="Consolas"/>
                <a:sym typeface="Consolas"/>
              </a:rPr>
              <a:t>0.45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6035040" y="233172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0.23-0.68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640080" y="2788920"/>
            <a:ext cx="6400800" cy="502920"/>
          </a:xfrm>
          <a:prstGeom prst="rect">
            <a:avLst/>
          </a:prstGeom>
          <a:solidFill>
            <a:srgbClr val="0A0A0A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3"/>
          <p:cNvSpPr/>
          <p:nvPr/>
        </p:nvSpPr>
        <p:spPr>
          <a:xfrm>
            <a:off x="777240" y="283464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NJ pregame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2377440" y="28346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+8.5%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3611880" y="28346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+6.6%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4846320" y="28346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onsolas"/>
                <a:ea typeface="Consolas"/>
                <a:cs typeface="Consolas"/>
                <a:sym typeface="Consolas"/>
              </a:rPr>
              <a:t>0.00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6035040" y="28346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0.0-0.0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640080" y="3291840"/>
            <a:ext cx="6400800" cy="5029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3"/>
          <p:cNvSpPr/>
          <p:nvPr/>
        </p:nvSpPr>
        <p:spPr>
          <a:xfrm>
            <a:off x="777240" y="333756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Heavy rain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2377440" y="333756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+16.8%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3611880" y="333756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+19.0%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4846320" y="333756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onsolas"/>
                <a:ea typeface="Consolas"/>
                <a:cs typeface="Consolas"/>
                <a:sym typeface="Consolas"/>
              </a:rPr>
              <a:t>0.09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6035040" y="33375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0.04-0.13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640080" y="3794760"/>
            <a:ext cx="6400800" cy="502920"/>
          </a:xfrm>
          <a:prstGeom prst="rect">
            <a:avLst/>
          </a:prstGeom>
          <a:solidFill>
            <a:srgbClr val="0A0A0A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777240" y="38404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Storm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2377440" y="38404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+1.6%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3611880" y="38404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+2.3%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4846320" y="384048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onsolas"/>
                <a:ea typeface="Consolas"/>
                <a:cs typeface="Consolas"/>
                <a:sym typeface="Consolas"/>
              </a:rPr>
              <a:t>0.11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6035040" y="384048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0.06-0.17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640080" y="4389120"/>
            <a:ext cx="6400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η computed as: max(0, (Lyft lift − Uber lift) / Uber fare-per-mile lift). Lam &amp; Liu 2017 methodology adapted from 5-min to hourly granularity. ±50% sensitivity range applied.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7269480" y="1783080"/>
            <a:ext cx="4343400" cy="45720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7269480" y="1783080"/>
            <a:ext cx="73152" cy="457200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7452360" y="187452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THE INSIGHT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7452360" y="21488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Cross-elasticity is NOT uniform.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7452360" y="256032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Sports games: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Lyft lifts MORE than Uber (8.1% vs 4.4%) → riders DO switch when Uber surges. η = 0.45.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Heavy rain: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Both surge similarly (19% Lyft, 17% Uber) → riders captive to rideshare, no Lyft escape. η = 0.09.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NJ pregame: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Uber lifts MORE than Lyft → no observable substitution. η ≈ 0.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Why it matters: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Uniform η=0.4 would've underestimated pricing capture for rain (where Lyft can't take share) and overestimated it for sports. Per-shock η is more accurate.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4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05  •  FORWARD APPLICATION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</a:rPr>
              <a:t>An applicable scenario for my analysis is the 2026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World Cup at MetLife: $0.8M </a:t>
            </a:r>
            <a:r>
              <a:rPr b="1" lang="en-US" sz="2800">
                <a:solidFill>
                  <a:srgbClr val="FFFFFF"/>
                </a:solidFill>
              </a:rPr>
              <a:t>in first 4 hours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$8.1M–$10.8M broader scenario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8" name="Google Shape;418;p14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14"/>
          <p:cNvSpPr/>
          <p:nvPr/>
        </p:nvSpPr>
        <p:spPr>
          <a:xfrm>
            <a:off x="640080" y="1783080"/>
            <a:ext cx="5943600" cy="3931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20" name="Google Shape;420;p14" title="08_world_cup_scenario.png"/>
          <p:cNvPicPr preferRelativeResize="0"/>
          <p:nvPr/>
        </p:nvPicPr>
        <p:blipFill rotWithShape="1">
          <a:blip r:embed="rId3">
            <a:alphaModFix/>
          </a:blip>
          <a:srcRect b="0" l="836" r="826" t="0"/>
          <a:stretch/>
        </p:blipFill>
        <p:spPr>
          <a:xfrm>
            <a:off x="685800" y="1828800"/>
            <a:ext cx="5852158" cy="3611881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14"/>
          <p:cNvSpPr/>
          <p:nvPr/>
        </p:nvSpPr>
        <p:spPr>
          <a:xfrm>
            <a:off x="731520" y="5440680"/>
            <a:ext cx="5760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N08 L1 narrow stacked capture | L4 broader scenario in cards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6858000" y="178308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LAYERED SIZING (SCOPE-DISCIPLINED)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6858000" y="2103120"/>
            <a:ext cx="4754880" cy="14173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6858000" y="2103120"/>
            <a:ext cx="73152" cy="141732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4"/>
          <p:cNvSpPr/>
          <p:nvPr/>
        </p:nvSpPr>
        <p:spPr>
          <a:xfrm>
            <a:off x="7040880" y="2194560"/>
            <a:ext cx="4480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LAYER 1 — VERIFIED NARROW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7040880" y="242316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$0.8M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7040880" y="2907792"/>
            <a:ext cx="4480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Tournament total at +1M tourists. Manhattan pre-game departure, 4-hr window, 50% supply capture. Direct from N02 NJ-venue methodology + N07 capture frac.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6858000" y="3611880"/>
            <a:ext cx="4754880" cy="16916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4"/>
          <p:cNvSpPr/>
          <p:nvPr/>
        </p:nvSpPr>
        <p:spPr>
          <a:xfrm>
            <a:off x="6858000" y="3611880"/>
            <a:ext cx="73152" cy="169164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4"/>
          <p:cNvSpPr/>
          <p:nvPr/>
        </p:nvSpPr>
        <p:spPr>
          <a:xfrm>
            <a:off x="7040880" y="3703320"/>
            <a:ext cx="44805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LAYER 4 — FULL OPPORTUNITY (EXTRAPOLATED)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7040880" y="393192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$8.1M – $10.8M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7040880" y="4434840"/>
            <a:ext cx="4480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Across +500K / +1M / +2M tourists. Adds: return trips (1.5×, judgment), outer-borough origins (1.8×, NYC &amp; Co. visitor data), multi-day tourist window (4×, Airbnb FIFA stay data). Cumulative ~10.8×.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4"/>
          <p:cNvSpPr/>
          <p:nvPr/>
        </p:nvSpPr>
        <p:spPr>
          <a:xfrm>
            <a:off x="6858000" y="5440680"/>
            <a:ext cx="4754880" cy="91440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4"/>
          <p:cNvSpPr/>
          <p:nvPr/>
        </p:nvSpPr>
        <p:spPr>
          <a:xfrm>
            <a:off x="6995160" y="5513832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THE PLAY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6995160" y="5733288"/>
            <a:ext cx="4480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Apply forecastable-shock pricing 4-6hrs pre-kickoff in Manhattan departure clusters. Final = max surge tier. 8-language in-app prompts. Monitor Lyft baseline pricing for competitive calibration.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640080" y="5852160"/>
            <a:ext cx="6126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SCOPE DISCIPLINE:  </a:t>
            </a: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L1 is what public data verifies directly. L2-L4 multipliers anchored to NYC &amp; Co. visitor data + Airbnb FIFA travel research (citations in appendix).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5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APPENDIX  •  COMPARABLE EVENTS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5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</a:rPr>
              <a:t>World Cup broader Scenario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magnitude is consistent with rideshare revenue at recent mega-events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7" name="Google Shape;447;p15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8" name="Google Shape;448;p15"/>
          <p:cNvSpPr/>
          <p:nvPr/>
        </p:nvSpPr>
        <p:spPr>
          <a:xfrm>
            <a:off x="640080" y="1828800"/>
            <a:ext cx="3657600" cy="23774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5"/>
          <p:cNvSpPr/>
          <p:nvPr/>
        </p:nvSpPr>
        <p:spPr>
          <a:xfrm>
            <a:off x="640080" y="1828800"/>
            <a:ext cx="365760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5"/>
          <p:cNvSpPr/>
          <p:nvPr/>
        </p:nvSpPr>
        <p:spPr>
          <a:xfrm>
            <a:off x="822960" y="20116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Super Bowl LVIII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822960" y="233172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Las Vegas, Feb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82296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+33%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822960" y="320040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Driver earnings per hour Super Bowl Sunday vs typical Sunday (Uber-published, Glendale 2023).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822960" y="388620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Uber Blog (uber.com/blog/las-vegas/drive-superbowl-lviii)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4434840" y="1828800"/>
            <a:ext cx="3657600" cy="23774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5"/>
          <p:cNvSpPr/>
          <p:nvPr/>
        </p:nvSpPr>
        <p:spPr>
          <a:xfrm>
            <a:off x="4434840" y="1828800"/>
            <a:ext cx="365760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15"/>
          <p:cNvSpPr/>
          <p:nvPr/>
        </p:nvSpPr>
        <p:spPr>
          <a:xfrm>
            <a:off x="4617720" y="20116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NJ Transit WC Rail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4617720" y="233172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WC 2026 (planned)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461772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$48M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/>
          <p:nvPr/>
        </p:nvSpPr>
        <p:spPr>
          <a:xfrm>
            <a:off x="4617720" y="320040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NJ Transit estimated revenue from expanded WC rail service to MetLife. Rideshare likely matches or exceeds given dynamic pricing.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4617720" y="388620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NJ Transit official estimate (Explore NJ, NBC NY)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8229600" y="1828800"/>
            <a:ext cx="3657600" cy="237744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5"/>
          <p:cNvSpPr/>
          <p:nvPr/>
        </p:nvSpPr>
        <p:spPr>
          <a:xfrm>
            <a:off x="8229600" y="1828800"/>
            <a:ext cx="3657600" cy="54864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5"/>
          <p:cNvSpPr/>
          <p:nvPr/>
        </p:nvSpPr>
        <p:spPr>
          <a:xfrm>
            <a:off x="8412480" y="20116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WC NY/NJ (FIFA est.)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/>
          <p:nvPr/>
        </p:nvSpPr>
        <p:spPr>
          <a:xfrm>
            <a:off x="8412480" y="233172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FIFA pre-tournament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841248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$6.4B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5"/>
          <p:cNvSpPr/>
          <p:nvPr/>
        </p:nvSpPr>
        <p:spPr>
          <a:xfrm>
            <a:off x="8412480" y="320040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Total FIFA-estimated tourist spending NY/NJ region. Rideshare ≈ 2-3% of travel spend → $130-200M implied total rideshare.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5"/>
          <p:cNvSpPr/>
          <p:nvPr/>
        </p:nvSpPr>
        <p:spPr>
          <a:xfrm>
            <a:off x="8412480" y="3886200"/>
            <a:ext cx="3291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Source: FIFA economic projection (WHYY, NJ Sec. of State)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640080" y="4526280"/>
            <a:ext cx="10972800" cy="1691640"/>
          </a:xfrm>
          <a:prstGeom prst="rect">
            <a:avLst/>
          </a:prstGeom>
          <a:solidFill>
            <a:srgbClr val="151515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5"/>
          <p:cNvSpPr/>
          <p:nvPr/>
        </p:nvSpPr>
        <p:spPr>
          <a:xfrm>
            <a:off x="777240" y="461772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HOW THIS VALIDATES THE LAYER 4 ESTIMATE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777240" y="493776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4 estimate of $8.1M–$10.8M is 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consistent with comparable evidence: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(1) NJ Transit alone forecasts $48M from WC rail, implying rideshare in the same order or higher given dynamic pricing; (2) Uber's 33% driver-earnings lift on Super Bowl Sunday confirms mega-events are operationally distinct, not just slightly busier; (3) FIFA's own $6.4B NY/NJ tourist spending estimate implies $130–200M total regional rideshare across the tournament. Our Layer 4 represents only the </a:t>
            </a: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supply-optimization slice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of that total — not the full opportunity. L1 ($0.8M) is directly verified from public data; L2-L4 multipliers are anchored to NYC &amp; Co. visitor data and Airbnb FIFA travel research.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Citations: NYC &amp; Co. NYC Visitor Profile · Airbnb FIFA WC 2026 Travel Trends · Roadtrips WC 2026 Travel Guide · NJ Transit (Explore NJ, NBC NY) · FIFA economic projections (WHYY) · Uber Blog Super Bowl LVIII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6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EXTENSION  •  INTERACTIVE EXPLORER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Try the framework yourself — sliders, scenarios, live recommendation flip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3" name="Google Shape;483;p16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4" name="Google Shape;484;p16"/>
          <p:cNvSpPr/>
          <p:nvPr/>
        </p:nvSpPr>
        <p:spPr>
          <a:xfrm>
            <a:off x="640080" y="1783080"/>
            <a:ext cx="7772400" cy="4572000"/>
          </a:xfrm>
          <a:prstGeom prst="rect">
            <a:avLst/>
          </a:prstGeom>
          <a:solidFill>
            <a:srgbClr val="151515"/>
          </a:solidFill>
          <a:ln cap="flat" cmpd="sng" w="254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640080" y="1783080"/>
            <a:ext cx="7772400" cy="411480"/>
          </a:xfrm>
          <a:prstGeom prst="rect">
            <a:avLst/>
          </a:prstGeom>
          <a:solidFill>
            <a:srgbClr val="151515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6"/>
          <p:cNvSpPr/>
          <p:nvPr/>
        </p:nvSpPr>
        <p:spPr>
          <a:xfrm>
            <a:off x="777240" y="1828800"/>
            <a:ext cx="7498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🌐  Cooper_Uber_Strategy_Explorer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640080" y="34747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[ EMBED WEB VIEWER ADD-IN HERE ]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640080" y="39319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Insert &gt; My Add-ins &gt; Web Viewer &gt; paste URL below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>
            <a:hlinkClick r:id="rId3"/>
          </p:cNvPr>
          <p:cNvSpPr/>
          <p:nvPr/>
        </p:nvSpPr>
        <p:spPr>
          <a:xfrm>
            <a:off x="640080" y="434340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onsolas"/>
              <a:buNone/>
            </a:pPr>
            <a:r>
              <a:rPr b="0" i="0" lang="en-US" sz="1100" u="sng" cap="none" strike="noStrike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4"/>
              </a:rPr>
              <a:t>https://tcooper4.github.io/UBER/deck/Cooper_Uber_Strategy_Explorer.html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(Click URL above as backup if Web Viewer add-in fails to load)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8595360" y="1783080"/>
            <a:ext cx="3017520" cy="457200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6"/>
          <p:cNvSpPr/>
          <p:nvPr/>
        </p:nvSpPr>
        <p:spPr>
          <a:xfrm>
            <a:off x="8595360" y="1783080"/>
            <a:ext cx="73152" cy="457200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6"/>
          <p:cNvSpPr/>
          <p:nvPr/>
        </p:nvSpPr>
        <p:spPr>
          <a:xfrm>
            <a:off x="8732520" y="187452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TWO INTERACTIVE VIEWS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8732520" y="2194560"/>
            <a:ext cx="283464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Tab 1: NYC Strategy Matrix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4 sliders (ε, η, surge cap, supply capture) × 4 shocks. Recommendation flips live.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Tab 2: World Cup 2026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Tourist inflow scenarios × layered scope (L1 narrow → L4 broader). Per-match breakdown.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WHY IT'S HERE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Challenge any assumption live. Numbers are not curated — they update with whatever parameters you set.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Calibri"/>
              <a:buNone/>
            </a:pPr>
            <a:r>
              <a:rPr b="0" i="0" lang="en-US" sz="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Same data, same notebooks, same logic — just exposed as a tool.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7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06  •  RISKS &amp; 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7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What's missing</a:t>
            </a:r>
            <a:r>
              <a:rPr b="1" lang="en-US" sz="2800">
                <a:solidFill>
                  <a:srgbClr val="FFFFFF"/>
                </a:solidFill>
              </a:rPr>
              <a:t> and 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</a:t>
            </a:r>
            <a:r>
              <a:rPr b="1" lang="en-US" sz="2800">
                <a:solidFill>
                  <a:srgbClr val="FFFFFF"/>
                </a:solidFill>
              </a:rPr>
              <a:t> would</a:t>
            </a: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build next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5" name="Google Shape;505;p17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6" name="Google Shape;506;p17"/>
          <p:cNvSpPr/>
          <p:nvPr/>
        </p:nvSpPr>
        <p:spPr>
          <a:xfrm>
            <a:off x="640080" y="1783080"/>
            <a:ext cx="5349240" cy="23317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7"/>
          <p:cNvSpPr/>
          <p:nvPr/>
        </p:nvSpPr>
        <p:spPr>
          <a:xfrm>
            <a:off x="822960" y="192024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DATA LIMITATIONS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868680" y="2331720"/>
            <a:ext cx="48920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NJ trip-level data not public — only Manhattan→NJ pre-game visible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Surge multiplier inferred (not observed) from fare-per-mile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driver-side data — supply pre-positioning sized at framework level only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20-month window — weather has 1 summer, 1 winter; political N=6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7"/>
          <p:cNvSpPr/>
          <p:nvPr/>
        </p:nvSpPr>
        <p:spPr>
          <a:xfrm>
            <a:off x="6537960" y="1783080"/>
            <a:ext cx="5349240" cy="23317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7"/>
          <p:cNvSpPr/>
          <p:nvPr/>
        </p:nvSpPr>
        <p:spPr>
          <a:xfrm>
            <a:off x="6720840" y="192024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ANALYTICAL CAVEATS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7"/>
          <p:cNvSpPr/>
          <p:nvPr/>
        </p:nvSpPr>
        <p:spPr>
          <a:xfrm>
            <a:off x="6766560" y="2331720"/>
            <a:ext cx="48920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Pre-trends placebo failed for CP — true causal ~0–4%, not 11%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Civic event negatives are operational blockers, not demand collapses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Substitution channel ruled out — modes co-move at hourly level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▪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Strategy comparison is partial-equilibrium (no Lyft response model)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7"/>
          <p:cNvSpPr/>
          <p:nvPr/>
        </p:nvSpPr>
        <p:spPr>
          <a:xfrm>
            <a:off x="640080" y="4251960"/>
            <a:ext cx="11247120" cy="23317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7"/>
          <p:cNvSpPr/>
          <p:nvPr/>
        </p:nvSpPr>
        <p:spPr>
          <a:xfrm>
            <a:off x="822960" y="438912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6C167"/>
                </a:solidFill>
                <a:latin typeface="Arial"/>
                <a:ea typeface="Arial"/>
                <a:cs typeface="Arial"/>
                <a:sym typeface="Arial"/>
              </a:rPr>
              <a:t>NEXT STEPS  •  WHAT INTERNAL DATA WOULD ADD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7"/>
          <p:cNvSpPr/>
          <p:nvPr/>
        </p:nvSpPr>
        <p:spPr>
          <a:xfrm>
            <a:off x="868680" y="4846320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ANALYTICAL EXTENSIONS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Bus integration (MTA Bus Hourly) for World Cup substitution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Synthetic control for CP DiD if pre-trend issue is critical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Driver-supply model with internal data (idle time, multi-app)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Borough-level demographic heterogeneity (Census ACS overlay)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7"/>
          <p:cNvSpPr/>
          <p:nvPr/>
        </p:nvSpPr>
        <p:spPr>
          <a:xfrm>
            <a:off x="6355080" y="4846320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INTERNAL DATA LIFTS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Exact surge multipliers (vs my fare-per-mile proxy)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Wait times → real supply tightness, not driver-pay-derived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Driver dispatch logic + multi-app behavior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▪ Lyft competitive response model from observed history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7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7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7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18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APPENDIX  •  CITATIONS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8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All academic anchors, data sources, and references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6" name="Google Shape;526;p18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7" name="Google Shape;527;p18"/>
          <p:cNvSpPr/>
          <p:nvPr/>
        </p:nvSpPr>
        <p:spPr>
          <a:xfrm>
            <a:off x="640080" y="1783080"/>
            <a:ext cx="5394960" cy="48463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8"/>
          <p:cNvSpPr/>
          <p:nvPr/>
        </p:nvSpPr>
        <p:spPr>
          <a:xfrm>
            <a:off x="640080" y="1783080"/>
            <a:ext cx="73152" cy="484632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8"/>
          <p:cNvSpPr/>
          <p:nvPr/>
        </p:nvSpPr>
        <p:spPr>
          <a:xfrm>
            <a:off x="822960" y="18745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ACADEMIC PAPERS &amp; METHODOLOGY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8">
            <a:hlinkClick r:id="rId3"/>
          </p:cNvPr>
          <p:cNvSpPr/>
          <p:nvPr/>
        </p:nvSpPr>
        <p:spPr>
          <a:xfrm>
            <a:off x="868680" y="224028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Using Big Data to Estimate Consumer Surplus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868680" y="249631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Cohen, Hahn, Hall, Levitt, Metcalfe (NBER w22627, 2016)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8"/>
          <p:cNvSpPr/>
          <p:nvPr/>
        </p:nvSpPr>
        <p:spPr>
          <a:xfrm>
            <a:off x="868680" y="269748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Own-price elasticity ε ≈ −0.5 to −1.0 → demand response in N06/N07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>
            <a:hlinkClick r:id="rId5"/>
          </p:cNvPr>
          <p:cNvSpPr/>
          <p:nvPr/>
        </p:nvSpPr>
        <p:spPr>
          <a:xfrm>
            <a:off x="868680" y="310896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Price-Driving in Real-Time Ridesharing Markets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/>
          <p:nvPr/>
        </p:nvSpPr>
        <p:spPr>
          <a:xfrm>
            <a:off x="868680" y="336499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Hall, Kendrick, Nosko (Uber working paper, 2015)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8"/>
          <p:cNvSpPr/>
          <p:nvPr/>
        </p:nvSpPr>
        <p:spPr>
          <a:xfrm>
            <a:off x="868680" y="356616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Driver supply 10-20% expansion under 2x surge → 50% capture in N07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>
            <a:hlinkClick r:id="rId7"/>
          </p:cNvPr>
          <p:cNvSpPr/>
          <p:nvPr/>
        </p:nvSpPr>
        <p:spPr>
          <a:xfrm>
            <a:off x="868680" y="397764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The Effect of Surge Pricing on Driver Supply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8"/>
          <p:cNvSpPr/>
          <p:nvPr/>
        </p:nvSpPr>
        <p:spPr>
          <a:xfrm>
            <a:off x="868680" y="423367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Chen, Sheldon (RAND Corp, 2016)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8"/>
          <p:cNvSpPr/>
          <p:nvPr/>
        </p:nvSpPr>
        <p:spPr>
          <a:xfrm>
            <a:off x="868680" y="443484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Driver labor supply elasticity ~1.0 → forecastability framing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8">
            <a:hlinkClick r:id="rId9"/>
          </p:cNvPr>
          <p:cNvSpPr/>
          <p:nvPr/>
        </p:nvSpPr>
        <p:spPr>
          <a:xfrm>
            <a:off x="868680" y="484632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Substitution among Ride-Sharing Platforms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8"/>
          <p:cNvSpPr/>
          <p:nvPr/>
        </p:nvSpPr>
        <p:spPr>
          <a:xfrm>
            <a:off x="868680" y="510235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Lam, Liu (MIT IDE working paper, 2017)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868680" y="530352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Cross-platform substitution methodology → per-shock η in N07b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8">
            <a:hlinkClick r:id="rId11"/>
          </p:cNvPr>
          <p:cNvSpPr/>
          <p:nvPr/>
        </p:nvSpPr>
        <p:spPr>
          <a:xfrm>
            <a:off x="868680" y="571500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Econometric Analysis of Cross-Section and Panel 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8"/>
          <p:cNvSpPr/>
          <p:nvPr/>
        </p:nvSpPr>
        <p:spPr>
          <a:xfrm>
            <a:off x="868680" y="597103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Wooldridge (MIT Press, 2010)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8"/>
          <p:cNvSpPr/>
          <p:nvPr/>
        </p:nvSpPr>
        <p:spPr>
          <a:xfrm>
            <a:off x="868680" y="617220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Panel collapse strategy justification (Ch. 14) → memory-safe DiD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8"/>
          <p:cNvSpPr/>
          <p:nvPr/>
        </p:nvSpPr>
        <p:spPr>
          <a:xfrm>
            <a:off x="6217920" y="1783080"/>
            <a:ext cx="5394960" cy="484632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8"/>
          <p:cNvSpPr/>
          <p:nvPr/>
        </p:nvSpPr>
        <p:spPr>
          <a:xfrm>
            <a:off x="6217920" y="1783080"/>
            <a:ext cx="73152" cy="484632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8"/>
          <p:cNvSpPr/>
          <p:nvPr/>
        </p:nvSpPr>
        <p:spPr>
          <a:xfrm>
            <a:off x="6400800" y="18745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DATA SOURCES (PUBLIC)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8">
            <a:hlinkClick r:id="rId13"/>
          </p:cNvPr>
          <p:cNvSpPr/>
          <p:nvPr/>
        </p:nvSpPr>
        <p:spPr>
          <a:xfrm>
            <a:off x="6446520" y="224028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TLC HVFHS Trip Records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8"/>
          <p:cNvSpPr/>
          <p:nvPr/>
        </p:nvSpPr>
        <p:spPr>
          <a:xfrm>
            <a:off x="6446520" y="249631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Taxi &amp; Limousine Commission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8"/>
          <p:cNvSpPr/>
          <p:nvPr/>
        </p:nvSpPr>
        <p:spPr>
          <a:xfrm>
            <a:off x="6446520" y="269748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399M trips · 20 monthly parquets · zone-hour panel core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8">
            <a:hlinkClick r:id="rId15"/>
          </p:cNvPr>
          <p:cNvSpPr/>
          <p:nvPr/>
        </p:nvSpPr>
        <p:spPr>
          <a:xfrm>
            <a:off x="6446520" y="2953512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TLC Taxi Zones (shapefile)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8"/>
          <p:cNvSpPr/>
          <p:nvPr/>
        </p:nvSpPr>
        <p:spPr>
          <a:xfrm>
            <a:off x="6446520" y="3209544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TLC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8"/>
          <p:cNvSpPr/>
          <p:nvPr/>
        </p:nvSpPr>
        <p:spPr>
          <a:xfrm>
            <a:off x="6446520" y="341071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263 zones · CRZ classification · choropleth + zone joins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8">
            <a:hlinkClick r:id="rId17"/>
          </p:cNvPr>
          <p:cNvSpPr/>
          <p:nvPr/>
        </p:nvSpPr>
        <p:spPr>
          <a:xfrm>
            <a:off x="6446520" y="3666744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MTA Subway Hourly Ridership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8"/>
          <p:cNvSpPr/>
          <p:nvPr/>
        </p:nvSpPr>
        <p:spPr>
          <a:xfrm>
            <a:off x="6446520" y="3922776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 MTA Open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8"/>
          <p:cNvSpPr/>
          <p:nvPr/>
        </p:nvSpPr>
        <p:spPr>
          <a:xfrm>
            <a:off x="6446520" y="4123944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62M raw rows → substitution analysis (N05)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8">
            <a:hlinkClick r:id="rId19"/>
          </p:cNvPr>
          <p:cNvSpPr/>
          <p:nvPr/>
        </p:nvSpPr>
        <p:spPr>
          <a:xfrm>
            <a:off x="6446520" y="4379976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/>
              </a:rPr>
              <a:t>NOAA Hourly Weather (ISD/LCD)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8"/>
          <p:cNvSpPr/>
          <p:nvPr/>
        </p:nvSpPr>
        <p:spPr>
          <a:xfrm>
            <a:off x="6446520" y="4636008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NOAA NCEI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8"/>
          <p:cNvSpPr/>
          <p:nvPr/>
        </p:nvSpPr>
        <p:spPr>
          <a:xfrm>
            <a:off x="6446520" y="4837176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FM-15 + FM-16 deduped → weather elasticity (N04)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8">
            <a:hlinkClick r:id="rId21"/>
          </p:cNvPr>
          <p:cNvSpPr/>
          <p:nvPr/>
        </p:nvSpPr>
        <p:spPr>
          <a:xfrm>
            <a:off x="6446520" y="5093208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2"/>
              </a:rPr>
              <a:t>FIFA WC 2026 Travel Trends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8"/>
          <p:cNvSpPr/>
          <p:nvPr/>
        </p:nvSpPr>
        <p:spPr>
          <a:xfrm>
            <a:off x="6446520" y="534924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Airbnb (May 2024 report)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8"/>
          <p:cNvSpPr/>
          <p:nvPr/>
        </p:nvSpPr>
        <p:spPr>
          <a:xfrm>
            <a:off x="6446520" y="5550408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Avg visitor stay 10-16 nights → L4 multi-day multiplier (N08)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8">
            <a:hlinkClick r:id="rId23"/>
          </p:cNvPr>
          <p:cNvSpPr/>
          <p:nvPr/>
        </p:nvSpPr>
        <p:spPr>
          <a:xfrm>
            <a:off x="6446520" y="580644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4"/>
              </a:rPr>
              <a:t>NYC Visitor Profile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8"/>
          <p:cNvSpPr/>
          <p:nvPr/>
        </p:nvSpPr>
        <p:spPr>
          <a:xfrm>
            <a:off x="6446520" y="6062472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NYC &amp; Company (NYC Tourism + Conventions)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8"/>
          <p:cNvSpPr/>
          <p:nvPr/>
        </p:nvSpPr>
        <p:spPr>
          <a:xfrm>
            <a:off x="6446520" y="6263640"/>
            <a:ext cx="5074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~55% Manhattan lodging share → L3 multiplier (N08)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8"/>
          <p:cNvSpPr/>
          <p:nvPr/>
        </p:nvSpPr>
        <p:spPr>
          <a:xfrm>
            <a:off x="640080" y="626364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All sources accessed May 2026. Click any source title to follow link. Full code + notebooks + AI conversation log available on request.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8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8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8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9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APPENDIX  •  AI WORKFLOW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9"/>
          <p:cNvSpPr/>
          <p:nvPr/>
        </p:nvSpPr>
        <p:spPr>
          <a:xfrm>
            <a:off x="548640" y="68580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How I used AI to accelerate this case — with awareness of its limitations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7" name="Google Shape;577;p19"/>
          <p:cNvCxnSpPr/>
          <p:nvPr/>
        </p:nvCxnSpPr>
        <p:spPr>
          <a:xfrm>
            <a:off x="548640" y="1508760"/>
            <a:ext cx="11064240" cy="0"/>
          </a:xfrm>
          <a:prstGeom prst="straightConnector1">
            <a:avLst/>
          </a:prstGeom>
          <a:noFill/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8" name="Google Shape;578;p19"/>
          <p:cNvSpPr/>
          <p:nvPr/>
        </p:nvSpPr>
        <p:spPr>
          <a:xfrm>
            <a:off x="640080" y="1783080"/>
            <a:ext cx="5394960" cy="429768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9"/>
          <p:cNvSpPr/>
          <p:nvPr/>
        </p:nvSpPr>
        <p:spPr>
          <a:xfrm>
            <a:off x="640080" y="1783080"/>
            <a:ext cx="73152" cy="429768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19"/>
          <p:cNvSpPr/>
          <p:nvPr/>
        </p:nvSpPr>
        <p:spPr>
          <a:xfrm>
            <a:off x="822960" y="18745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HOW I USED CLAUDE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9"/>
          <p:cNvSpPr/>
          <p:nvPr/>
        </p:nvSpPr>
        <p:spPr>
          <a:xfrm>
            <a:off x="822960" y="2194560"/>
            <a:ext cx="51206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Hypothesis development: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iterated framing from "5 shocks" → "forecastable shocks with operational levers per shock" → final pricing-vs-supply head-to-head with academic anchors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Methodology design: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memory-safe panel collapse strategy (Wooldridge anchor), placebo test design, hour-level vs day-level event windows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Code generation: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Cursor patches for ~12 notebooks; verified each output against expected ranges before accepting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Academic anchoring: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web-search for Cohen 2016, Hall et al. 2015, Chen &amp; Sheldon 2016; Claude surfaced relevant papers I'd then read directly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Deck construction: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iterative review on each slide for clarity, jargon, and consistency with results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9"/>
          <p:cNvSpPr/>
          <p:nvPr/>
        </p:nvSpPr>
        <p:spPr>
          <a:xfrm>
            <a:off x="6217920" y="1783080"/>
            <a:ext cx="5394960" cy="4297680"/>
          </a:xfrm>
          <a:prstGeom prst="rect">
            <a:avLst/>
          </a:prstGeom>
          <a:solidFill>
            <a:srgbClr val="1F1F1F"/>
          </a:solidFill>
          <a:ln cap="flat" cmpd="sng" w="12700">
            <a:solidFill>
              <a:srgbClr val="2A2A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9"/>
          <p:cNvSpPr/>
          <p:nvPr/>
        </p:nvSpPr>
        <p:spPr>
          <a:xfrm>
            <a:off x="6217920" y="1783080"/>
            <a:ext cx="73152" cy="429768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9"/>
          <p:cNvSpPr/>
          <p:nvPr/>
        </p:nvSpPr>
        <p:spPr>
          <a:xfrm>
            <a:off x="6400800" y="18745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WHERE I PUSHED BACK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9"/>
          <p:cNvSpPr/>
          <p:nvPr/>
        </p:nvSpPr>
        <p:spPr>
          <a:xfrm>
            <a:off x="6400800" y="2194560"/>
            <a:ext cx="51206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World Cup magnitude: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initially gave $5M-$25M tournament estimate. I pushed for a derivation from public data → led to L1/L4 layered framing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Supply capture fraction: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originally hardcoded at 50%. I required literature anchoring → led to Hall et al. citation + 30/50/70 sensitivity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Strategy recommendation: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proposed supply on "strategic fit" without quantification. I required analytical work (Path 3-lite) → led to flipping the recommendation to pricing once data was anchored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Calibri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Pre-trends placebo: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flagged the placebo failure; we discussed whether to bury or report → chose honest reporting as the academic standard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9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AI LIMITATIONS RECOGNIZED:  </a:t>
            </a:r>
            <a:r>
              <a:rPr b="0" i="0" lang="en-US" sz="9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Claude proposed un-anchored estimates that needed verification against literature. Every analytical claim in this deck was traced back to data or cited research. Full conversation log submitted separately as case-prompt artifact.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9"/>
          <p:cNvSpPr/>
          <p:nvPr/>
        </p:nvSpPr>
        <p:spPr>
          <a:xfrm>
            <a:off x="365760" y="6537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9"/>
          <p:cNvSpPr/>
          <p:nvPr/>
        </p:nvSpPr>
        <p:spPr>
          <a:xfrm>
            <a:off x="425196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Thomas Cooper  •  May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9"/>
          <p:cNvSpPr/>
          <p:nvPr/>
        </p:nvSpPr>
        <p:spPr>
          <a:xfrm>
            <a:off x="10789920" y="65379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17 / 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0"/>
          <p:cNvSpPr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00"/>
              <a:buFont typeface="Arial"/>
              <a:buNone/>
            </a:pPr>
            <a:r>
              <a:rPr b="1" i="0" lang="en-US" sz="8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8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0"/>
          <p:cNvSpPr/>
          <p:nvPr/>
        </p:nvSpPr>
        <p:spPr>
          <a:xfrm>
            <a:off x="640080" y="2788920"/>
            <a:ext cx="731520" cy="45720"/>
          </a:xfrm>
          <a:prstGeom prst="rect">
            <a:avLst/>
          </a:prstGeom>
          <a:solidFill>
            <a:srgbClr val="06C167"/>
          </a:solidFill>
          <a:ln cap="flat" cmpd="sng" w="127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20"/>
          <p:cNvSpPr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700"/>
              <a:buFont typeface="Calibri"/>
              <a:buNone/>
            </a:pPr>
            <a:r>
              <a:rPr b="0" i="1" lang="en-US" sz="17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Five forecastable shocks. Per-shock lever recommendations. World Cup 2026 ready.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0"/>
          <p:cNvSpPr/>
          <p:nvPr/>
        </p:nvSpPr>
        <p:spPr>
          <a:xfrm>
            <a:off x="7315200" y="4114800"/>
            <a:ext cx="4297680" cy="2103120"/>
          </a:xfrm>
          <a:prstGeom prst="rect">
            <a:avLst/>
          </a:prstGeom>
          <a:solidFill>
            <a:srgbClr val="1F1F1F"/>
          </a:solidFill>
          <a:ln cap="flat" cmpd="sng" w="25400">
            <a:solidFill>
              <a:srgbClr val="06C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0"/>
          <p:cNvSpPr/>
          <p:nvPr/>
        </p:nvSpPr>
        <p:spPr>
          <a:xfrm>
            <a:off x="7498080" y="425196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0"/>
          <p:cNvSpPr/>
          <p:nvPr/>
        </p:nvSpPr>
        <p:spPr>
          <a:xfrm>
            <a:off x="7498080" y="461772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Thomas Cooper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0"/>
          <p:cNvSpPr/>
          <p:nvPr/>
        </p:nvSpPr>
        <p:spPr>
          <a:xfrm>
            <a:off x="7498080" y="502920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Senior Quant Modeling Analyst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MBA + MA Economics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0"/>
          <p:cNvSpPr/>
          <p:nvPr/>
        </p:nvSpPr>
        <p:spPr>
          <a:xfrm>
            <a:off x="640080" y="425196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C16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C167"/>
                </a:solidFill>
                <a:latin typeface="Calibri"/>
                <a:ea typeface="Calibri"/>
                <a:cs typeface="Calibri"/>
                <a:sym typeface="Calibri"/>
              </a:rPr>
              <a:t>APPENDIX (BACKUP)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0"/>
          <p:cNvSpPr/>
          <p:nvPr/>
        </p:nvSpPr>
        <p:spPr>
          <a:xfrm>
            <a:off x="640080" y="4572000"/>
            <a:ext cx="594360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Methodology details (panel collapse, Wooldridge 2010)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Competitive penalty literature (Cohen 2016, Lam &amp; Liu 2017)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Comparable events benchmarking + AI workflow notes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AI conversation log submitted separately per case ask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Lyft first-differences robustness + political N=6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•  Full per-shock numbers + sensitivity tables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0"/>
          <p:cNvSpPr/>
          <p:nvPr/>
        </p:nvSpPr>
        <p:spPr>
          <a:xfrm>
            <a:off x="640080" y="65379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Uber GPA Lead Case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